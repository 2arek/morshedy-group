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8" r:id="rId2"/>
    <p:sldId id="259" r:id="rId3"/>
    <p:sldId id="260" r:id="rId4"/>
    <p:sldId id="283" r:id="rId5"/>
    <p:sldId id="286" r:id="rId6"/>
    <p:sldId id="285" r:id="rId7"/>
    <p:sldId id="287" r:id="rId8"/>
    <p:sldId id="262" r:id="rId9"/>
    <p:sldId id="294" r:id="rId10"/>
    <p:sldId id="295" r:id="rId11"/>
    <p:sldId id="263" r:id="rId12"/>
    <p:sldId id="288" r:id="rId13"/>
    <p:sldId id="289" r:id="rId14"/>
    <p:sldId id="290" r:id="rId15"/>
    <p:sldId id="291" r:id="rId16"/>
    <p:sldId id="292" r:id="rId17"/>
    <p:sldId id="293" r:id="rId18"/>
    <p:sldId id="264" r:id="rId19"/>
    <p:sldId id="280" r:id="rId20"/>
    <p:sldId id="281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818"/>
    <a:srgbClr val="F2EFE9"/>
    <a:srgbClr val="899F7A"/>
    <a:srgbClr val="D4D1CC"/>
    <a:srgbClr val="E5E7DA"/>
    <a:srgbClr val="466B33"/>
    <a:srgbClr val="888582"/>
    <a:srgbClr val="FBF8F1"/>
    <a:srgbClr val="B0BEA2"/>
    <a:srgbClr val="F4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0471D7C-1F57-0619-76B7-B61C48362E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5C5ADA-7D72-6F8C-1B20-A7576926382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625C3-8B93-4419-A1D4-00A9489F45DD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21D4E5-4A2C-1F1B-B74A-F856783B4A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15B034-67A0-A0A2-D38B-FC4E6D97C9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FBFA7B-2042-43E1-A125-07ACEA262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8160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B859A-D610-4386-8D24-7AE49DEF573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347DB-AB0D-4939-AD48-6166D1BA7D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3182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6139C-A57F-D96B-A8E5-0D2EFA7F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D208D-BEF9-B130-D4B8-E02FD30CB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1FB6C-B3F0-FC7E-74F4-53D74578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E9C7C-9CBD-41DA-8FDA-149954677D61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05567-83C2-C3E5-1343-D89DE9E0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46131-E42C-7643-EA2F-7116A178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471787"/>
      </p:ext>
    </p:extLst>
  </p:cSld>
  <p:clrMapOvr>
    <a:masterClrMapping/>
  </p:clrMapOvr>
  <p:transition advClick="0" advTm="30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8C84-5832-D957-B19E-011ED16D7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AA51-B01E-2278-C619-101894A1D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707DA-8396-524D-B9B3-11CEE712A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C739-3EFB-41DD-8FA6-DFE425EF17B9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D1EAB-F583-B603-1A6F-E032172D2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D6ABD-B387-8EF9-3519-4BC74D9D0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0971"/>
      </p:ext>
    </p:extLst>
  </p:cSld>
  <p:clrMapOvr>
    <a:masterClrMapping/>
  </p:clrMapOvr>
  <p:transition advClick="0" advTm="30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A0955-B152-51AB-9575-18F321A14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A9C71-CD91-56BF-A726-F5EB03F89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DBBBC-CCB6-CD74-D280-BB9FD8AA8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5E6B8-C519-4308-8E31-910C6874BD4C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A5478-63AA-011C-4375-77F83186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B24C2-171E-99A0-AD82-D4BF2541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90235"/>
      </p:ext>
    </p:extLst>
  </p:cSld>
  <p:clrMapOvr>
    <a:masterClrMapping/>
  </p:clrMapOvr>
  <p:transition advClick="0" advTm="30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D695F-8B51-2B0B-7885-396A70FDD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B641D-AE08-5A57-D14D-1B7779491F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815FE-2000-9F62-4DCC-55C8C56E1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5A9C6-B5F9-B6AF-FF61-8CE9388F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530B1-2099-4F84-8FB5-95AA8A1D1AE1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E9F41-7D56-89F1-3E44-CFADC3B07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9D83B-1F7E-A5C7-AF52-43DE96AF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22117"/>
      </p:ext>
    </p:extLst>
  </p:cSld>
  <p:clrMapOvr>
    <a:masterClrMapping/>
  </p:clrMapOvr>
  <p:transition advClick="0" advTm="30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FC1B1-747C-3C5B-55C0-25737BC93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79DB1-98E5-5EA2-E789-D980F490D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90F4B-F194-B366-D215-879E26D40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74463-F46E-740B-AF83-F15D0EEE6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17461-0031-80F0-1233-B40C7BF4CF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69A28-9C30-6B88-A154-C25781AB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94C8B-B18E-45C1-8C66-591A5BD43FD8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2CCB8-5949-3D56-D523-05B3BA83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AD27A-1D88-95B4-0459-603B12103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06689"/>
      </p:ext>
    </p:extLst>
  </p:cSld>
  <p:clrMapOvr>
    <a:masterClrMapping/>
  </p:clrMapOvr>
  <p:transition advClick="0" advTm="30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8118-6304-C976-72F7-13D9D135A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78359A-A778-E69C-EBAE-91AABCAC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9FFC-975D-466A-AC34-15A751C34F8D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AD602-2020-296F-6376-FEE05CF96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E4082-6E14-AC5E-EE34-0AC79C659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29763"/>
      </p:ext>
    </p:extLst>
  </p:cSld>
  <p:clrMapOvr>
    <a:masterClrMapping/>
  </p:clrMapOvr>
  <p:transition advClick="0" advTm="30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26B6A-2608-C77A-D293-6E26E852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0FD9B-73FD-413A-91B3-A9E068615925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46F288-02F1-68D9-3411-E6C811EFF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DA139-E96D-216B-68C0-D7E41D32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937850"/>
      </p:ext>
    </p:extLst>
  </p:cSld>
  <p:clrMapOvr>
    <a:masterClrMapping/>
  </p:clrMapOvr>
  <p:transition advClick="0" advTm="30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2588-E6A0-17B9-1475-F9429DCE7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9DD0B-49A1-97DA-C423-5F8EE84FC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64BF5-EFC0-6C0A-A0CC-BC2890108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6A742-5516-9455-8788-8FECDC06F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14AB-6DF9-4D65-81D4-813E506F0849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89216-7A5C-74E7-8838-901E15DE6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56065-5D50-5482-696E-7D0FB78E3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060128"/>
      </p:ext>
    </p:extLst>
  </p:cSld>
  <p:clrMapOvr>
    <a:masterClrMapping/>
  </p:clrMapOvr>
  <p:transition advClick="0" advTm="30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4425-A4F1-30BD-2DBD-0C8AA5492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AF9A0A-CC1F-DCBB-D0DD-E59EBB360B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43B57-9A93-9439-2B7B-4858667D0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A28AA-77C6-CBDA-F273-72C7FC15F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58C03-89FE-44CF-A38B-6C8427F1031C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7A7A4-C107-122B-1AD2-7E1156DB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0EBF3-D1B2-65D0-07F5-648EB2B1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859090"/>
      </p:ext>
    </p:extLst>
  </p:cSld>
  <p:clrMapOvr>
    <a:masterClrMapping/>
  </p:clrMapOvr>
  <p:transition advClick="0" advTm="30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9040-F426-00EB-04AC-4A8D843B7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98580-3B4E-4657-A113-B410B3A60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E3299-873B-3A21-93BD-E1FC7696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F5C25-E1C1-4C1A-A1DB-AEE0C8836A09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BD8F0-16BC-F6B0-A933-14220E842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A2567-3598-94A2-1161-B80C3F02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567365"/>
      </p:ext>
    </p:extLst>
  </p:cSld>
  <p:clrMapOvr>
    <a:masterClrMapping/>
  </p:clrMapOvr>
  <p:transition advClick="0" advTm="30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F6F51D-D80C-46F7-FB74-E8A84B709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2BC46-05BD-34E4-BBA0-80D0591E2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BCE66-DBA3-14EA-A103-77D920ADB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96E22-B0C0-4B56-AFDC-AEFA81780038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E0969-22BC-A99C-7749-0D84B1CDA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721EB-9605-E75F-5C1F-17976955E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364740"/>
      </p:ext>
    </p:extLst>
  </p:cSld>
  <p:clrMapOvr>
    <a:masterClrMapping/>
  </p:clrMapOvr>
  <p:transition advClick="0" advTm="30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D554C5-AA8F-B5B7-3315-27122EA8B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3DFD7-81CD-9B66-1498-9A6265B35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32211-9E6E-F103-3DD7-A22B9B1CB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73897-8350-46EB-9E15-69D7B0A7EFA3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705AF-6B54-2C6C-0CCA-52C03B21E8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E3F1D-08A5-E182-A35A-0D279D64D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Russo One" panose="02000503050000020004" pitchFamily="2" charset="0"/>
              </a:defRPr>
            </a:lvl1pPr>
          </a:lstStyle>
          <a:p>
            <a:fld id="{96E7ECAB-B323-4EAB-B6CC-8D02F1B2B9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03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Click="0" advTm="30000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818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1818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A1818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A1818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818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818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4BFE4833-D8FC-87A4-B117-786245315F0D}"/>
              </a:ext>
            </a:extLst>
          </p:cNvPr>
          <p:cNvSpPr txBox="1"/>
          <p:nvPr/>
        </p:nvSpPr>
        <p:spPr>
          <a:xfrm>
            <a:off x="6951227" y="2189024"/>
            <a:ext cx="52407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</a:rPr>
              <a:t>Real Estate Sales </a:t>
            </a:r>
            <a:br>
              <a:rPr lang="ar-EG" sz="4000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</a:rPr>
            </a:br>
            <a:r>
              <a:rPr lang="en-US" sz="4000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Franklin Gothic Heavy" panose="020B0903020102020204" pitchFamily="34" charset="0"/>
              </a:rPr>
              <a:t>&amp; Collection Analytics</a:t>
            </a:r>
            <a:endParaRPr lang="en-US" sz="4000" dirty="0">
              <a:solidFill>
                <a:srgbClr val="1A1818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2DD527-9373-D163-4F8B-4CBD337D9C73}"/>
              </a:ext>
            </a:extLst>
          </p:cNvPr>
          <p:cNvSpPr txBox="1"/>
          <p:nvPr/>
        </p:nvSpPr>
        <p:spPr>
          <a:xfrm>
            <a:off x="7824092" y="4137958"/>
            <a:ext cx="34950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1A18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BY: AHMED MOHAMED</a:t>
            </a:r>
          </a:p>
          <a:p>
            <a:pPr algn="ctr"/>
            <a:r>
              <a:rPr lang="en-US" sz="2400" dirty="0">
                <a:solidFill>
                  <a:srgbClr val="1A18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ALI MAGDY</a:t>
            </a:r>
          </a:p>
          <a:p>
            <a:pPr algn="ctr"/>
            <a:r>
              <a:rPr lang="en-US" sz="2400" dirty="0">
                <a:solidFill>
                  <a:srgbClr val="1A18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KYRILLOS GABER</a:t>
            </a:r>
          </a:p>
          <a:p>
            <a:pPr algn="ctr"/>
            <a:r>
              <a:rPr lang="en-US" sz="2400" dirty="0">
                <a:solidFill>
                  <a:srgbClr val="1A18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TAREK AHMED</a:t>
            </a:r>
          </a:p>
          <a:p>
            <a:pPr algn="ctr"/>
            <a:r>
              <a:rPr lang="en-US" sz="2400" dirty="0">
                <a:solidFill>
                  <a:srgbClr val="1A1818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YOUSSEF MOHAMED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96738D-A248-214F-EE96-1F3C910F1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F890F1-C1ED-3339-B76A-6B9DC1B9B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8050" y="781050"/>
            <a:ext cx="3667125" cy="11317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AD9D9E-905E-DAFD-F617-9B3FB1E6A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959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0">
        <p:split orient="vert"/>
      </p:transition>
    </mc:Choice>
    <mc:Fallback>
      <p:transition spd="slow" advTm="30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allAtOnce"/>
      <p:bldP spid="21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AA31B1A-82B0-7500-ECC6-DDD9B07ADE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5E5CD2-162F-78D1-B26A-D7F7CB3AA6C2}"/>
              </a:ext>
            </a:extLst>
          </p:cNvPr>
          <p:cNvSpPr txBox="1"/>
          <p:nvPr/>
        </p:nvSpPr>
        <p:spPr>
          <a:xfrm>
            <a:off x="1579155" y="0"/>
            <a:ext cx="9033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BUSINESS PROBLEM STATEMENT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5BED9-274F-F13F-CFD3-66B82502170C}"/>
              </a:ext>
            </a:extLst>
          </p:cNvPr>
          <p:cNvSpPr txBox="1"/>
          <p:nvPr/>
        </p:nvSpPr>
        <p:spPr>
          <a:xfrm>
            <a:off x="609600" y="1124339"/>
            <a:ext cx="10972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The real estate company sells units through installment plans. However, the collection data is stored across multiple project worksheets, making it difficult to monitor the overall collection performance.</a:t>
            </a:r>
          </a:p>
          <a:p>
            <a:endParaRPr lang="en-US" sz="20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r>
              <a:rPr lang="en-US" sz="20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The main business challenges are: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Data is distributed across 8 project worksheets.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Installment information is stored in multiple columns and different business states.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Management needs to identify paid, due, and not-yet-due installments.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It is difficult to monitor collected and outstanding amounts in one place.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Management needs visibility into bank exposure and project progress.</a:t>
            </a:r>
          </a:p>
          <a:p>
            <a:pPr lvl="0"/>
            <a:endParaRPr lang="en-US" sz="20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r>
              <a:rPr lang="en-US" sz="20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The company needs a unified solution that provides a clear view of sales, collections, outstanding balances, and project performance.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5FD81F-C377-91E3-6F15-F0C943F44F62}"/>
              </a:ext>
            </a:extLst>
          </p:cNvPr>
          <p:cNvGrpSpPr/>
          <p:nvPr/>
        </p:nvGrpSpPr>
        <p:grpSpPr>
          <a:xfrm>
            <a:off x="276225" y="5276168"/>
            <a:ext cx="11778576" cy="886502"/>
            <a:chOff x="276225" y="5276168"/>
            <a:chExt cx="11778576" cy="88650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B7BF944-0CD7-A44F-2EB4-F3EE2D9048D8}"/>
                </a:ext>
              </a:extLst>
            </p:cNvPr>
            <p:cNvCxnSpPr>
              <a:cxnSpLocks/>
            </p:cNvCxnSpPr>
            <p:nvPr/>
          </p:nvCxnSpPr>
          <p:spPr>
            <a:xfrm>
              <a:off x="2453601" y="5719078"/>
              <a:ext cx="8515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1E37C53-F65C-666D-991D-2C15D570D064}"/>
                </a:ext>
              </a:extLst>
            </p:cNvPr>
            <p:cNvCxnSpPr>
              <a:cxnSpLocks/>
            </p:cNvCxnSpPr>
            <p:nvPr/>
          </p:nvCxnSpPr>
          <p:spPr>
            <a:xfrm>
              <a:off x="5619750" y="5719078"/>
              <a:ext cx="9963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AE8C172-7A8A-B14C-8E0E-90194270911A}"/>
                </a:ext>
              </a:extLst>
            </p:cNvPr>
            <p:cNvSpPr/>
            <p:nvPr/>
          </p:nvSpPr>
          <p:spPr>
            <a:xfrm>
              <a:off x="276225" y="5276850"/>
              <a:ext cx="2057400" cy="885820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8 Project Sheets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764769F-598A-4BE4-ADE3-29654B53CB45}"/>
                </a:ext>
              </a:extLst>
            </p:cNvPr>
            <p:cNvSpPr/>
            <p:nvPr/>
          </p:nvSpPr>
          <p:spPr>
            <a:xfrm>
              <a:off x="3425151" y="5276168"/>
              <a:ext cx="2057400" cy="885820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Different Installment Data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44D4654-BF27-D301-2464-545EA156530B}"/>
                </a:ext>
              </a:extLst>
            </p:cNvPr>
            <p:cNvSpPr/>
            <p:nvPr/>
          </p:nvSpPr>
          <p:spPr>
            <a:xfrm>
              <a:off x="6753264" y="5276168"/>
              <a:ext cx="2057400" cy="885820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Difficult Analysis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009BDAEA-4967-F22A-3A5E-25EFCCDAE807}"/>
                </a:ext>
              </a:extLst>
            </p:cNvPr>
            <p:cNvCxnSpPr>
              <a:cxnSpLocks/>
            </p:cNvCxnSpPr>
            <p:nvPr/>
          </p:nvCxnSpPr>
          <p:spPr>
            <a:xfrm>
              <a:off x="8905875" y="5719078"/>
              <a:ext cx="9963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ECC324A-3E8E-582F-09F1-D964D01CA546}"/>
                </a:ext>
              </a:extLst>
            </p:cNvPr>
            <p:cNvSpPr/>
            <p:nvPr/>
          </p:nvSpPr>
          <p:spPr>
            <a:xfrm>
              <a:off x="9997401" y="5276168"/>
              <a:ext cx="2057400" cy="885820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Need for Unified Dashboard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42CE2-8466-BAFC-E2B1-9014A0AD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589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9281A-0924-7C77-E8B1-7E0EBC805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76498C-0B21-8F83-6562-D966B5949F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E91900-38E3-3AB1-1C8D-2854123E3B16}"/>
              </a:ext>
            </a:extLst>
          </p:cNvPr>
          <p:cNvSpPr txBox="1"/>
          <p:nvPr/>
        </p:nvSpPr>
        <p:spPr>
          <a:xfrm>
            <a:off x="393653" y="87888"/>
            <a:ext cx="11404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PROJECT MISSION &amp; ANALYTICAL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83A5D-4D01-6811-A645-7BD7885E5860}"/>
              </a:ext>
            </a:extLst>
          </p:cNvPr>
          <p:cNvSpPr txBox="1"/>
          <p:nvPr/>
        </p:nvSpPr>
        <p:spPr>
          <a:xfrm>
            <a:off x="781049" y="1089898"/>
            <a:ext cx="106299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Project 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To build a unified Power BI dashboard that helps management monitor sales performance, installment collections, outstanding balances, bank exposure, and project progress across all real estate projects.</a:t>
            </a:r>
          </a:p>
          <a:p>
            <a:endParaRPr lang="en-US" sz="20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r>
              <a:rPr lang="en-US" sz="20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Analytical Objectives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Analyze sales performance across projects.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Measure the number and percentage of sold units.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Track issued and collected installments.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Calculate collected and outstanding amounts.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Measure collection rate and outstanding percentage.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Monitor project completion percentage.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Separate Cash and Bank-financed sales.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Analyze outstanding balances by bank.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Compare collection performance between Old and New periods.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A5D75-5E9D-69BB-5A34-76F3E4A6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8400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76C10A-877A-57A6-E0D1-4D2BB7318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ABE3234-5BEA-515F-52B0-C26C9F35C786}"/>
              </a:ext>
            </a:extLst>
          </p:cNvPr>
          <p:cNvGrpSpPr/>
          <p:nvPr/>
        </p:nvGrpSpPr>
        <p:grpSpPr>
          <a:xfrm rot="1071935">
            <a:off x="5209407" y="-4541290"/>
            <a:ext cx="2226860" cy="3548743"/>
            <a:chOff x="4695825" y="1057275"/>
            <a:chExt cx="2752725" cy="39624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BD7FAE0-0E31-9C8F-77EF-3F56EF2BCE10}"/>
                </a:ext>
              </a:extLst>
            </p:cNvPr>
            <p:cNvSpPr/>
            <p:nvPr/>
          </p:nvSpPr>
          <p:spPr>
            <a:xfrm>
              <a:off x="4695825" y="1057275"/>
              <a:ext cx="2752725" cy="3962400"/>
            </a:xfrm>
            <a:prstGeom prst="roundRect">
              <a:avLst>
                <a:gd name="adj" fmla="val 9524"/>
              </a:avLst>
            </a:prstGeom>
            <a:solidFill>
              <a:srgbClr val="466B3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B6D8128-B6AA-912F-6CB1-4A48A0EFA1D6}"/>
                </a:ext>
              </a:extLst>
            </p:cNvPr>
            <p:cNvSpPr txBox="1"/>
            <p:nvPr/>
          </p:nvSpPr>
          <p:spPr>
            <a:xfrm>
              <a:off x="4967287" y="1238250"/>
              <a:ext cx="2209800" cy="2783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Problem</a:t>
              </a:r>
            </a:p>
            <a:p>
              <a:pPr algn="ctr"/>
              <a:r>
                <a:rPr lang="en-US" sz="8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usso One" panose="02000503050000020004" pitchFamily="2" charset="0"/>
                </a:rPr>
                <a:t>04</a:t>
              </a:r>
            </a:p>
            <a:p>
              <a:pPr algn="ctr"/>
              <a:r>
                <a:rPr lang="en-US" sz="2800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Limited Visibility</a:t>
              </a:r>
              <a:endParaRPr lang="en-US" sz="2800" b="1" dirty="0">
                <a:solidFill>
                  <a:srgbClr val="FBF8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31EAB17-24FD-49F4-BF9F-A9AD0DD5A212}"/>
              </a:ext>
            </a:extLst>
          </p:cNvPr>
          <p:cNvGrpSpPr/>
          <p:nvPr/>
        </p:nvGrpSpPr>
        <p:grpSpPr>
          <a:xfrm rot="251228">
            <a:off x="5062807" y="-4609698"/>
            <a:ext cx="2226860" cy="3548743"/>
            <a:chOff x="4695825" y="1057275"/>
            <a:chExt cx="2752725" cy="39624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96A4659-6CD5-AF01-F5B9-9FF5E86C611F}"/>
                </a:ext>
              </a:extLst>
            </p:cNvPr>
            <p:cNvSpPr/>
            <p:nvPr/>
          </p:nvSpPr>
          <p:spPr>
            <a:xfrm>
              <a:off x="4695825" y="1057275"/>
              <a:ext cx="2752725" cy="3962400"/>
            </a:xfrm>
            <a:prstGeom prst="roundRect">
              <a:avLst>
                <a:gd name="adj" fmla="val 9524"/>
              </a:avLst>
            </a:prstGeom>
            <a:solidFill>
              <a:srgbClr val="88858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CBB77DE-8A86-6CE1-D6D2-93E193744B64}"/>
                </a:ext>
              </a:extLst>
            </p:cNvPr>
            <p:cNvSpPr txBox="1"/>
            <p:nvPr/>
          </p:nvSpPr>
          <p:spPr>
            <a:xfrm>
              <a:off x="4967288" y="1306980"/>
              <a:ext cx="2209800" cy="2646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Problem</a:t>
              </a:r>
            </a:p>
            <a:p>
              <a:pPr algn="ctr"/>
              <a:r>
                <a:rPr lang="en-US" sz="8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usso One" panose="02000503050000020004" pitchFamily="2" charset="0"/>
                </a:rPr>
                <a:t>03</a:t>
              </a:r>
            </a:p>
            <a:p>
              <a:pPr algn="ctr"/>
              <a:r>
                <a:rPr lang="en-US" sz="2400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Complex Collections </a:t>
              </a:r>
              <a:endParaRPr lang="en-US" sz="2400" b="1" dirty="0">
                <a:solidFill>
                  <a:srgbClr val="FBF8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127E00F-A25D-3C2D-BCF2-375DB08B73F1}"/>
              </a:ext>
            </a:extLst>
          </p:cNvPr>
          <p:cNvGrpSpPr/>
          <p:nvPr/>
        </p:nvGrpSpPr>
        <p:grpSpPr>
          <a:xfrm rot="21053211">
            <a:off x="4095214" y="-4541290"/>
            <a:ext cx="2226860" cy="3548743"/>
            <a:chOff x="4695825" y="1057275"/>
            <a:chExt cx="2752725" cy="39624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19280E0-58D6-00F5-28B0-0229363B9A24}"/>
                </a:ext>
              </a:extLst>
            </p:cNvPr>
            <p:cNvSpPr/>
            <p:nvPr/>
          </p:nvSpPr>
          <p:spPr>
            <a:xfrm>
              <a:off x="4695825" y="1057275"/>
              <a:ext cx="2752725" cy="3962400"/>
            </a:xfrm>
            <a:prstGeom prst="roundRect">
              <a:avLst>
                <a:gd name="adj" fmla="val 9524"/>
              </a:avLst>
            </a:prstGeom>
            <a:solidFill>
              <a:srgbClr val="1A1818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91AD398-863C-5FD8-2E81-8366935211E7}"/>
                </a:ext>
              </a:extLst>
            </p:cNvPr>
            <p:cNvSpPr txBox="1"/>
            <p:nvPr/>
          </p:nvSpPr>
          <p:spPr>
            <a:xfrm>
              <a:off x="4967286" y="1306980"/>
              <a:ext cx="2270635" cy="2646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Problem</a:t>
              </a:r>
            </a:p>
            <a:p>
              <a:pPr algn="ctr"/>
              <a:r>
                <a:rPr lang="en-US" sz="8000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usso One" panose="02000503050000020004" pitchFamily="2" charset="0"/>
                </a:rPr>
                <a:t>02</a:t>
              </a:r>
            </a:p>
            <a:p>
              <a:pPr algn="ctr"/>
              <a:r>
                <a:rPr lang="en-US" sz="2400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Inconsistent Data 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51FF4FE-0674-79B7-D0CD-A8BCCD883E35}"/>
              </a:ext>
            </a:extLst>
          </p:cNvPr>
          <p:cNvGrpSpPr/>
          <p:nvPr/>
        </p:nvGrpSpPr>
        <p:grpSpPr>
          <a:xfrm rot="20431488">
            <a:off x="4472584" y="-4425547"/>
            <a:ext cx="2226860" cy="3548743"/>
            <a:chOff x="4695825" y="1057275"/>
            <a:chExt cx="2752725" cy="39624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A877EB8-89EB-B251-84E4-935A2A3D8CB8}"/>
                </a:ext>
              </a:extLst>
            </p:cNvPr>
            <p:cNvSpPr/>
            <p:nvPr/>
          </p:nvSpPr>
          <p:spPr>
            <a:xfrm>
              <a:off x="4695825" y="1057275"/>
              <a:ext cx="2752725" cy="3962400"/>
            </a:xfrm>
            <a:prstGeom prst="roundRect">
              <a:avLst>
                <a:gd name="adj" fmla="val 9524"/>
              </a:avLst>
            </a:prstGeom>
            <a:solidFill>
              <a:srgbClr val="899F7A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2FE5BE8-73C3-19C7-6589-56B414566933}"/>
                </a:ext>
              </a:extLst>
            </p:cNvPr>
            <p:cNvSpPr txBox="1"/>
            <p:nvPr/>
          </p:nvSpPr>
          <p:spPr>
            <a:xfrm>
              <a:off x="4967287" y="1238250"/>
              <a:ext cx="2209800" cy="2783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Problem</a:t>
              </a:r>
            </a:p>
            <a:p>
              <a:pPr algn="ctr"/>
              <a:r>
                <a:rPr lang="en-US" sz="8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usso One" panose="02000503050000020004" pitchFamily="2" charset="0"/>
                </a:rPr>
                <a:t>01</a:t>
              </a:r>
            </a:p>
            <a:p>
              <a:pPr algn="ctr"/>
              <a:r>
                <a:rPr lang="en-US" sz="2800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Multiple Projects </a:t>
              </a:r>
              <a:endParaRPr lang="en-US" sz="2800" b="1" dirty="0">
                <a:solidFill>
                  <a:srgbClr val="FBF8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187CD19-1BD6-26EE-BA9C-A46F96996EC4}"/>
              </a:ext>
            </a:extLst>
          </p:cNvPr>
          <p:cNvSpPr txBox="1"/>
          <p:nvPr/>
        </p:nvSpPr>
        <p:spPr>
          <a:xfrm>
            <a:off x="2705100" y="8466303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CORE PROBLEMS IN OUR PROJECT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CEFB7-95C8-AC7E-867D-0FBC72706D32}"/>
              </a:ext>
            </a:extLst>
          </p:cNvPr>
          <p:cNvSpPr txBox="1"/>
          <p:nvPr/>
        </p:nvSpPr>
        <p:spPr>
          <a:xfrm>
            <a:off x="1238250" y="2028617"/>
            <a:ext cx="97155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AT FIRST, IN ANY DATA ANALYSIS PROJECT, WE MAY FACE SOME PROBLEMS. SO, WHAT ARE PROBLEMS IN THIS PROJECT?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03979DC-CEEC-AE3A-4F95-446C2692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3403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E2214E-84BD-1994-99D9-E7CF47F9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FD02295-5027-EA45-A75F-E692E47CE0E4}"/>
              </a:ext>
            </a:extLst>
          </p:cNvPr>
          <p:cNvGrpSpPr/>
          <p:nvPr/>
        </p:nvGrpSpPr>
        <p:grpSpPr>
          <a:xfrm rot="1071935">
            <a:off x="8113783" y="691650"/>
            <a:ext cx="2226860" cy="3548743"/>
            <a:chOff x="4695825" y="1057275"/>
            <a:chExt cx="2752725" cy="39624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9F4E716-92AC-8E9A-72EF-4765E0AD2CFE}"/>
                </a:ext>
              </a:extLst>
            </p:cNvPr>
            <p:cNvSpPr/>
            <p:nvPr/>
          </p:nvSpPr>
          <p:spPr>
            <a:xfrm>
              <a:off x="4695825" y="1057275"/>
              <a:ext cx="2752725" cy="3962400"/>
            </a:xfrm>
            <a:prstGeom prst="roundRect">
              <a:avLst>
                <a:gd name="adj" fmla="val 9524"/>
              </a:avLst>
            </a:prstGeom>
            <a:solidFill>
              <a:srgbClr val="466B33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268C44F-0B08-D6DF-5404-65CBCD17C123}"/>
                </a:ext>
              </a:extLst>
            </p:cNvPr>
            <p:cNvSpPr txBox="1"/>
            <p:nvPr/>
          </p:nvSpPr>
          <p:spPr>
            <a:xfrm>
              <a:off x="4967287" y="1238250"/>
              <a:ext cx="2209800" cy="2783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Problem</a:t>
              </a:r>
            </a:p>
            <a:p>
              <a:pPr algn="ctr"/>
              <a:r>
                <a:rPr lang="en-US" sz="8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usso One" panose="02000503050000020004" pitchFamily="2" charset="0"/>
                </a:rPr>
                <a:t>04</a:t>
              </a:r>
            </a:p>
            <a:p>
              <a:pPr algn="ctr"/>
              <a:r>
                <a:rPr lang="en-US" sz="2800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Limited Visibility</a:t>
              </a:r>
              <a:endParaRPr lang="en-US" sz="2800" b="1" dirty="0">
                <a:solidFill>
                  <a:srgbClr val="FBF8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841D026-26DF-A254-756B-679B94200051}"/>
              </a:ext>
            </a:extLst>
          </p:cNvPr>
          <p:cNvGrpSpPr/>
          <p:nvPr/>
        </p:nvGrpSpPr>
        <p:grpSpPr>
          <a:xfrm rot="251228">
            <a:off x="6102359" y="334507"/>
            <a:ext cx="2226860" cy="3548743"/>
            <a:chOff x="4695825" y="1057275"/>
            <a:chExt cx="2752725" cy="39624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0D31D56-D0C8-4042-BBD4-4BC3FD414C6B}"/>
                </a:ext>
              </a:extLst>
            </p:cNvPr>
            <p:cNvSpPr/>
            <p:nvPr/>
          </p:nvSpPr>
          <p:spPr>
            <a:xfrm>
              <a:off x="4695825" y="1057275"/>
              <a:ext cx="2752725" cy="3962400"/>
            </a:xfrm>
            <a:prstGeom prst="roundRect">
              <a:avLst>
                <a:gd name="adj" fmla="val 9524"/>
              </a:avLst>
            </a:prstGeom>
            <a:solidFill>
              <a:srgbClr val="88858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E2D4597-BF3A-2F47-5F98-66D3974D616F}"/>
                </a:ext>
              </a:extLst>
            </p:cNvPr>
            <p:cNvSpPr txBox="1"/>
            <p:nvPr/>
          </p:nvSpPr>
          <p:spPr>
            <a:xfrm>
              <a:off x="4967288" y="1306980"/>
              <a:ext cx="2209800" cy="2646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Problem</a:t>
              </a:r>
            </a:p>
            <a:p>
              <a:pPr algn="ctr"/>
              <a:r>
                <a:rPr lang="en-US" sz="8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usso One" panose="02000503050000020004" pitchFamily="2" charset="0"/>
                </a:rPr>
                <a:t>03</a:t>
              </a:r>
            </a:p>
            <a:p>
              <a:pPr algn="ctr"/>
              <a:r>
                <a:rPr lang="en-US" sz="2400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Complex Collections </a:t>
              </a:r>
              <a:endParaRPr lang="en-US" sz="2400" b="1" dirty="0">
                <a:solidFill>
                  <a:srgbClr val="FBF8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D51C17F-6E92-F0D3-9470-1B64E7EC6ACF}"/>
              </a:ext>
            </a:extLst>
          </p:cNvPr>
          <p:cNvGrpSpPr/>
          <p:nvPr/>
        </p:nvGrpSpPr>
        <p:grpSpPr>
          <a:xfrm rot="21053211">
            <a:off x="3982554" y="411902"/>
            <a:ext cx="2226860" cy="3548743"/>
            <a:chOff x="4695825" y="1057275"/>
            <a:chExt cx="2752725" cy="39624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66FF355-293C-DBC7-1AD7-3E845510F60C}"/>
                </a:ext>
              </a:extLst>
            </p:cNvPr>
            <p:cNvSpPr/>
            <p:nvPr/>
          </p:nvSpPr>
          <p:spPr>
            <a:xfrm>
              <a:off x="4695825" y="1057275"/>
              <a:ext cx="2752725" cy="3962400"/>
            </a:xfrm>
            <a:prstGeom prst="roundRect">
              <a:avLst>
                <a:gd name="adj" fmla="val 9524"/>
              </a:avLst>
            </a:prstGeom>
            <a:solidFill>
              <a:srgbClr val="1A1818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E092EA6-B8DC-9EB2-FDC4-CDD8CF2C6F2E}"/>
                </a:ext>
              </a:extLst>
            </p:cNvPr>
            <p:cNvSpPr txBox="1"/>
            <p:nvPr/>
          </p:nvSpPr>
          <p:spPr>
            <a:xfrm>
              <a:off x="4967286" y="1306980"/>
              <a:ext cx="2270635" cy="2646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Problem</a:t>
              </a:r>
            </a:p>
            <a:p>
              <a:pPr algn="ctr"/>
              <a:r>
                <a:rPr lang="en-US" sz="8000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usso One" panose="02000503050000020004" pitchFamily="2" charset="0"/>
                </a:rPr>
                <a:t>02</a:t>
              </a:r>
            </a:p>
            <a:p>
              <a:pPr algn="ctr"/>
              <a:r>
                <a:rPr lang="en-US" sz="2400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Inconsistent Data 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C69A824-3796-F5D3-757E-56A0280C87B8}"/>
              </a:ext>
            </a:extLst>
          </p:cNvPr>
          <p:cNvGrpSpPr/>
          <p:nvPr/>
        </p:nvGrpSpPr>
        <p:grpSpPr>
          <a:xfrm rot="20431488">
            <a:off x="1851357" y="917119"/>
            <a:ext cx="2226860" cy="3548743"/>
            <a:chOff x="4695825" y="1057275"/>
            <a:chExt cx="2752725" cy="3962400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34C1F77-B249-6349-EB8A-C8AA95E33EED}"/>
                </a:ext>
              </a:extLst>
            </p:cNvPr>
            <p:cNvSpPr/>
            <p:nvPr/>
          </p:nvSpPr>
          <p:spPr>
            <a:xfrm>
              <a:off x="4695825" y="1057275"/>
              <a:ext cx="2752725" cy="3962400"/>
            </a:xfrm>
            <a:prstGeom prst="roundRect">
              <a:avLst>
                <a:gd name="adj" fmla="val 9524"/>
              </a:avLst>
            </a:prstGeom>
            <a:solidFill>
              <a:srgbClr val="899F7A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F097214-CB31-55CD-B27C-1D137CB0DC64}"/>
                </a:ext>
              </a:extLst>
            </p:cNvPr>
            <p:cNvSpPr txBox="1"/>
            <p:nvPr/>
          </p:nvSpPr>
          <p:spPr>
            <a:xfrm>
              <a:off x="4967287" y="1238250"/>
              <a:ext cx="2209800" cy="2783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Problem</a:t>
              </a:r>
            </a:p>
            <a:p>
              <a:pPr algn="ctr"/>
              <a:r>
                <a:rPr lang="en-US" sz="8000" b="1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Russo One" panose="02000503050000020004" pitchFamily="2" charset="0"/>
                </a:rPr>
                <a:t>01</a:t>
              </a:r>
            </a:p>
            <a:p>
              <a:pPr algn="ctr"/>
              <a:r>
                <a:rPr lang="en-US" sz="2800" dirty="0">
                  <a:solidFill>
                    <a:srgbClr val="FBF8F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 panose="020B0004020202020204" pitchFamily="34" charset="0"/>
                </a:rPr>
                <a:t>Multiple Projects </a:t>
              </a:r>
              <a:endParaRPr lang="en-US" sz="2800" b="1" dirty="0">
                <a:solidFill>
                  <a:srgbClr val="FBF8F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64F25AF-C006-0E66-D8A9-409F68755F82}"/>
              </a:ext>
            </a:extLst>
          </p:cNvPr>
          <p:cNvSpPr txBox="1"/>
          <p:nvPr/>
        </p:nvSpPr>
        <p:spPr>
          <a:xfrm>
            <a:off x="2771775" y="5174463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CORE PROBLEMS IN OUR PROJECT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3EB0206-4726-9C1C-7042-83312485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730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0">
        <p159:morph option="byObject"/>
      </p:transition>
    </mc:Choice>
    <mc:Fallback xmlns="">
      <p:transition spd="slow" advClick="0" advTm="30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2CB2B-2BD5-CD66-AC21-58B5494E2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9F0BA17-D4DC-8BC4-746D-30FC687A96F4}"/>
              </a:ext>
            </a:extLst>
          </p:cNvPr>
          <p:cNvGrpSpPr/>
          <p:nvPr/>
        </p:nvGrpSpPr>
        <p:grpSpPr>
          <a:xfrm rot="18841577">
            <a:off x="3992880" y="7830640"/>
            <a:ext cx="4206240" cy="4206240"/>
            <a:chOff x="1889760" y="1325880"/>
            <a:chExt cx="4206240" cy="4206240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6AEBBD03-75D1-C3FE-D4C4-C9109C7C33E6}"/>
                </a:ext>
              </a:extLst>
            </p:cNvPr>
            <p:cNvGrpSpPr/>
            <p:nvPr/>
          </p:nvGrpSpPr>
          <p:grpSpPr>
            <a:xfrm>
              <a:off x="1889760" y="1325880"/>
              <a:ext cx="4206240" cy="4206240"/>
              <a:chOff x="5506720" y="1158240"/>
              <a:chExt cx="3657600" cy="3657600"/>
            </a:xfrm>
            <a:gradFill>
              <a:gsLst>
                <a:gs pos="0">
                  <a:srgbClr val="1A1818"/>
                </a:gs>
                <a:gs pos="100000">
                  <a:srgbClr val="899F7A"/>
                </a:gs>
              </a:gsLst>
              <a:lin ang="600000" scaled="0"/>
            </a:gradFill>
            <a:effectLst>
              <a:outerShdw blurRad="2540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E56D1966-DE68-C744-0BBE-BB9342C919EC}"/>
                  </a:ext>
                </a:extLst>
              </p:cNvPr>
              <p:cNvSpPr/>
              <p:nvPr/>
            </p:nvSpPr>
            <p:spPr>
              <a:xfrm>
                <a:off x="6421120" y="20726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1371600 w 1828800"/>
                  <a:gd name="csY2" fmla="*/ 914400 h 1828800"/>
                  <a:gd name="csX3" fmla="*/ 914400 w 1828800"/>
                  <a:gd name="csY3" fmla="*/ 1371600 h 1828800"/>
                  <a:gd name="csX4" fmla="*/ 914400 w 1828800"/>
                  <a:gd name="csY4" fmla="*/ 1828800 h 1828800"/>
                  <a:gd name="csX5" fmla="*/ 0 w 1828800"/>
                  <a:gd name="csY5" fmla="*/ 914400 h 1828800"/>
                  <a:gd name="csX6" fmla="*/ 457200 w 1828800"/>
                  <a:gd name="csY6" fmla="*/ 914400 h 1828800"/>
                  <a:gd name="csX7" fmla="*/ 914400 w 1828800"/>
                  <a:gd name="csY7" fmla="*/ 457200 h 1828800"/>
                  <a:gd name="csX8" fmla="*/ 914400 w 1828800"/>
                  <a:gd name="csY8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914400" y="505009"/>
                      <a:pt x="1323791" y="914400"/>
                      <a:pt x="1828800" y="914400"/>
                    </a:cubicBezTo>
                    <a:lnTo>
                      <a:pt x="1371600" y="914400"/>
                    </a:lnTo>
                    <a:cubicBezTo>
                      <a:pt x="1119095" y="914400"/>
                      <a:pt x="914400" y="1119095"/>
                      <a:pt x="914400" y="1371600"/>
                    </a:cubicBezTo>
                    <a:lnTo>
                      <a:pt x="914400" y="1828800"/>
                    </a:lnTo>
                    <a:cubicBezTo>
                      <a:pt x="914400" y="1323791"/>
                      <a:pt x="505009" y="914400"/>
                      <a:pt x="0" y="914400"/>
                    </a:cubicBezTo>
                    <a:lnTo>
                      <a:pt x="457200" y="914400"/>
                    </a:lnTo>
                    <a:cubicBezTo>
                      <a:pt x="709705" y="914400"/>
                      <a:pt x="914400" y="709705"/>
                      <a:pt x="914400" y="457200"/>
                    </a:cubicBezTo>
                    <a:lnTo>
                      <a:pt x="91440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7F7FB1E0-2C07-A3A3-9FB4-00A2EC2A8E7A}"/>
                  </a:ext>
                </a:extLst>
              </p:cNvPr>
              <p:cNvSpPr/>
              <p:nvPr/>
            </p:nvSpPr>
            <p:spPr>
              <a:xfrm>
                <a:off x="7335520" y="11582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67D6AD97-D317-EF28-94ED-82DFFD468AD0}"/>
                  </a:ext>
                </a:extLst>
              </p:cNvPr>
              <p:cNvSpPr/>
              <p:nvPr/>
            </p:nvSpPr>
            <p:spPr>
              <a:xfrm>
                <a:off x="5506720" y="29870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D28C2E7D-7DA0-E1F7-7FFD-0EE73B8C3897}"/>
                </a:ext>
              </a:extLst>
            </p:cNvPr>
            <p:cNvSpPr/>
            <p:nvPr/>
          </p:nvSpPr>
          <p:spPr>
            <a:xfrm>
              <a:off x="2095500" y="3634739"/>
              <a:ext cx="1691640" cy="1691640"/>
            </a:xfrm>
            <a:prstGeom prst="ellipse">
              <a:avLst/>
            </a:prstGeom>
            <a:gradFill>
              <a:gsLst>
                <a:gs pos="33000">
                  <a:srgbClr val="FBF8F1"/>
                </a:gs>
                <a:gs pos="77000">
                  <a:srgbClr val="D4D1CC"/>
                </a:gs>
              </a:gsLst>
              <a:lin ang="2700000" scaled="0"/>
            </a:gradFill>
            <a:scene3d>
              <a:camera prst="orthographicFront"/>
              <a:lightRig rig="threePt" dir="t"/>
            </a:scene3d>
            <a:sp3d>
              <a:bevelT w="127000" h="381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STEP</a:t>
              </a:r>
            </a:p>
            <a:p>
              <a:pPr algn="ctr"/>
              <a:r>
                <a:rPr lang="en-US" sz="4800" dirty="0">
                  <a:solidFill>
                    <a:schemeClr val="tx1"/>
                  </a:solidFill>
                  <a:latin typeface="Russo One" panose="02000503050000020004" pitchFamily="2" charset="0"/>
                </a:rPr>
                <a:t>01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1D63DB0-B8F7-870F-7CE3-D3A84B0B4DDA}"/>
              </a:ext>
            </a:extLst>
          </p:cNvPr>
          <p:cNvGrpSpPr/>
          <p:nvPr/>
        </p:nvGrpSpPr>
        <p:grpSpPr>
          <a:xfrm rot="18829476">
            <a:off x="3992880" y="7830640"/>
            <a:ext cx="4206240" cy="4206240"/>
            <a:chOff x="6096000" y="1325880"/>
            <a:chExt cx="4206240" cy="4206240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CD83AD04-4C61-2056-9010-11ABCF22B15B}"/>
                </a:ext>
              </a:extLst>
            </p:cNvPr>
            <p:cNvGrpSpPr/>
            <p:nvPr/>
          </p:nvGrpSpPr>
          <p:grpSpPr>
            <a:xfrm>
              <a:off x="6096000" y="1325880"/>
              <a:ext cx="4206240" cy="4206240"/>
              <a:chOff x="5506720" y="1158240"/>
              <a:chExt cx="3657600" cy="3657600"/>
            </a:xfrm>
            <a:gradFill>
              <a:gsLst>
                <a:gs pos="0">
                  <a:srgbClr val="1A1818"/>
                </a:gs>
                <a:gs pos="100000">
                  <a:srgbClr val="899F7A"/>
                </a:gs>
              </a:gsLst>
              <a:lin ang="600000" scaled="0"/>
            </a:gradFill>
            <a:effectLst>
              <a:outerShdw blurRad="2540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D988A1D5-DE17-8A31-A834-E8902A5B0784}"/>
                  </a:ext>
                </a:extLst>
              </p:cNvPr>
              <p:cNvSpPr/>
              <p:nvPr/>
            </p:nvSpPr>
            <p:spPr>
              <a:xfrm>
                <a:off x="6421120" y="20726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1371600 w 1828800"/>
                  <a:gd name="csY2" fmla="*/ 914400 h 1828800"/>
                  <a:gd name="csX3" fmla="*/ 914400 w 1828800"/>
                  <a:gd name="csY3" fmla="*/ 1371600 h 1828800"/>
                  <a:gd name="csX4" fmla="*/ 914400 w 1828800"/>
                  <a:gd name="csY4" fmla="*/ 1828800 h 1828800"/>
                  <a:gd name="csX5" fmla="*/ 0 w 1828800"/>
                  <a:gd name="csY5" fmla="*/ 914400 h 1828800"/>
                  <a:gd name="csX6" fmla="*/ 457200 w 1828800"/>
                  <a:gd name="csY6" fmla="*/ 914400 h 1828800"/>
                  <a:gd name="csX7" fmla="*/ 914400 w 1828800"/>
                  <a:gd name="csY7" fmla="*/ 457200 h 1828800"/>
                  <a:gd name="csX8" fmla="*/ 914400 w 1828800"/>
                  <a:gd name="csY8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914400" y="505009"/>
                      <a:pt x="1323791" y="914400"/>
                      <a:pt x="1828800" y="914400"/>
                    </a:cubicBezTo>
                    <a:lnTo>
                      <a:pt x="1371600" y="914400"/>
                    </a:lnTo>
                    <a:cubicBezTo>
                      <a:pt x="1119095" y="914400"/>
                      <a:pt x="914400" y="1119095"/>
                      <a:pt x="914400" y="1371600"/>
                    </a:cubicBezTo>
                    <a:lnTo>
                      <a:pt x="914400" y="1828800"/>
                    </a:lnTo>
                    <a:cubicBezTo>
                      <a:pt x="914400" y="1323791"/>
                      <a:pt x="505009" y="914400"/>
                      <a:pt x="0" y="914400"/>
                    </a:cubicBezTo>
                    <a:lnTo>
                      <a:pt x="457200" y="914400"/>
                    </a:lnTo>
                    <a:cubicBezTo>
                      <a:pt x="709705" y="914400"/>
                      <a:pt x="914400" y="709705"/>
                      <a:pt x="914400" y="457200"/>
                    </a:cubicBezTo>
                    <a:lnTo>
                      <a:pt x="91440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8C370EC0-8A3F-3E65-4AAD-4FEAE2711579}"/>
                  </a:ext>
                </a:extLst>
              </p:cNvPr>
              <p:cNvSpPr/>
              <p:nvPr/>
            </p:nvSpPr>
            <p:spPr>
              <a:xfrm>
                <a:off x="7335520" y="11582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A6A8DE08-9BAE-DFA6-EAD7-98630990B01C}"/>
                  </a:ext>
                </a:extLst>
              </p:cNvPr>
              <p:cNvSpPr/>
              <p:nvPr/>
            </p:nvSpPr>
            <p:spPr>
              <a:xfrm>
                <a:off x="5506720" y="29870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E895B70F-A973-1784-D169-C4A91D39D509}"/>
                </a:ext>
              </a:extLst>
            </p:cNvPr>
            <p:cNvSpPr/>
            <p:nvPr/>
          </p:nvSpPr>
          <p:spPr>
            <a:xfrm>
              <a:off x="8404860" y="1531619"/>
              <a:ext cx="1691640" cy="1691640"/>
            </a:xfrm>
            <a:prstGeom prst="ellipse">
              <a:avLst/>
            </a:prstGeom>
            <a:gradFill>
              <a:gsLst>
                <a:gs pos="33000">
                  <a:srgbClr val="FBF8F1"/>
                </a:gs>
                <a:gs pos="77000">
                  <a:srgbClr val="D4D1CC"/>
                </a:gs>
              </a:gsLst>
              <a:lin ang="2700000" scaled="0"/>
            </a:gradFill>
            <a:scene3d>
              <a:camera prst="orthographicFront"/>
              <a:lightRig rig="threePt" dir="t"/>
            </a:scene3d>
            <a:sp3d>
              <a:bevelT w="127000" h="381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STEP</a:t>
              </a:r>
            </a:p>
            <a:p>
              <a:pPr algn="ctr"/>
              <a:r>
                <a:rPr lang="en-US" sz="4800" dirty="0">
                  <a:solidFill>
                    <a:schemeClr val="tx1"/>
                  </a:solidFill>
                  <a:latin typeface="Russo One" panose="02000503050000020004" pitchFamily="2" charset="0"/>
                </a:rPr>
                <a:t>04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577493F-7E4C-5586-C0A5-C32D8838DE18}"/>
              </a:ext>
            </a:extLst>
          </p:cNvPr>
          <p:cNvGrpSpPr/>
          <p:nvPr/>
        </p:nvGrpSpPr>
        <p:grpSpPr>
          <a:xfrm rot="2728324">
            <a:off x="3992880" y="7830640"/>
            <a:ext cx="4206240" cy="4206240"/>
            <a:chOff x="3992880" y="1325880"/>
            <a:chExt cx="4206240" cy="420624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3EE3C47E-758E-C2AF-64D1-8688AFA258A4}"/>
                </a:ext>
              </a:extLst>
            </p:cNvPr>
            <p:cNvGrpSpPr/>
            <p:nvPr/>
          </p:nvGrpSpPr>
          <p:grpSpPr>
            <a:xfrm rot="16200000">
              <a:off x="3992880" y="1325880"/>
              <a:ext cx="4206240" cy="4206240"/>
              <a:chOff x="5506720" y="1158240"/>
              <a:chExt cx="3657600" cy="3657600"/>
            </a:xfrm>
            <a:gradFill>
              <a:gsLst>
                <a:gs pos="0">
                  <a:srgbClr val="1A1818"/>
                </a:gs>
                <a:gs pos="100000">
                  <a:srgbClr val="899F7A"/>
                </a:gs>
              </a:gsLst>
              <a:lin ang="600000" scaled="0"/>
            </a:gradFill>
            <a:effectLst>
              <a:outerShdw blurRad="2540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1E9C1A34-578E-ABEC-38C7-B7F512C075DE}"/>
                  </a:ext>
                </a:extLst>
              </p:cNvPr>
              <p:cNvSpPr/>
              <p:nvPr/>
            </p:nvSpPr>
            <p:spPr>
              <a:xfrm>
                <a:off x="6421120" y="20726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1371600 w 1828800"/>
                  <a:gd name="csY2" fmla="*/ 914400 h 1828800"/>
                  <a:gd name="csX3" fmla="*/ 914400 w 1828800"/>
                  <a:gd name="csY3" fmla="*/ 1371600 h 1828800"/>
                  <a:gd name="csX4" fmla="*/ 914400 w 1828800"/>
                  <a:gd name="csY4" fmla="*/ 1828800 h 1828800"/>
                  <a:gd name="csX5" fmla="*/ 0 w 1828800"/>
                  <a:gd name="csY5" fmla="*/ 914400 h 1828800"/>
                  <a:gd name="csX6" fmla="*/ 457200 w 1828800"/>
                  <a:gd name="csY6" fmla="*/ 914400 h 1828800"/>
                  <a:gd name="csX7" fmla="*/ 914400 w 1828800"/>
                  <a:gd name="csY7" fmla="*/ 457200 h 1828800"/>
                  <a:gd name="csX8" fmla="*/ 914400 w 1828800"/>
                  <a:gd name="csY8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914400" y="505009"/>
                      <a:pt x="1323791" y="914400"/>
                      <a:pt x="1828800" y="914400"/>
                    </a:cubicBezTo>
                    <a:lnTo>
                      <a:pt x="1371600" y="914400"/>
                    </a:lnTo>
                    <a:cubicBezTo>
                      <a:pt x="1119095" y="914400"/>
                      <a:pt x="914400" y="1119095"/>
                      <a:pt x="914400" y="1371600"/>
                    </a:cubicBezTo>
                    <a:lnTo>
                      <a:pt x="914400" y="1828800"/>
                    </a:lnTo>
                    <a:cubicBezTo>
                      <a:pt x="914400" y="1323791"/>
                      <a:pt x="505009" y="914400"/>
                      <a:pt x="0" y="914400"/>
                    </a:cubicBezTo>
                    <a:lnTo>
                      <a:pt x="457200" y="914400"/>
                    </a:lnTo>
                    <a:cubicBezTo>
                      <a:pt x="709705" y="914400"/>
                      <a:pt x="914400" y="709705"/>
                      <a:pt x="914400" y="457200"/>
                    </a:cubicBezTo>
                    <a:lnTo>
                      <a:pt x="91440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940FD77C-137A-0ED6-A6D8-804B26F4CA44}"/>
                  </a:ext>
                </a:extLst>
              </p:cNvPr>
              <p:cNvSpPr/>
              <p:nvPr/>
            </p:nvSpPr>
            <p:spPr>
              <a:xfrm>
                <a:off x="7335520" y="11582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A9E46DBD-9E32-DBFE-F5B3-73ACE75AE02A}"/>
                  </a:ext>
                </a:extLst>
              </p:cNvPr>
              <p:cNvSpPr/>
              <p:nvPr/>
            </p:nvSpPr>
            <p:spPr>
              <a:xfrm>
                <a:off x="5506720" y="29870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B5726A46-F5A5-EFA1-C105-3FCF14FF272F}"/>
                </a:ext>
              </a:extLst>
            </p:cNvPr>
            <p:cNvSpPr/>
            <p:nvPr/>
          </p:nvSpPr>
          <p:spPr>
            <a:xfrm>
              <a:off x="4221480" y="1554478"/>
              <a:ext cx="1691640" cy="1691640"/>
            </a:xfrm>
            <a:prstGeom prst="ellipse">
              <a:avLst/>
            </a:prstGeom>
            <a:gradFill>
              <a:gsLst>
                <a:gs pos="33000">
                  <a:srgbClr val="FBF8F1"/>
                </a:gs>
                <a:gs pos="77000">
                  <a:srgbClr val="D4D1CC"/>
                </a:gs>
              </a:gsLst>
              <a:lin ang="2700000" scaled="0"/>
            </a:gradFill>
            <a:scene3d>
              <a:camera prst="orthographicFront"/>
              <a:lightRig rig="threePt" dir="t"/>
            </a:scene3d>
            <a:sp3d>
              <a:bevelT w="127000" h="381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STEP</a:t>
              </a:r>
            </a:p>
            <a:p>
              <a:pPr algn="ctr"/>
              <a:r>
                <a:rPr lang="en-US" sz="4800" dirty="0">
                  <a:solidFill>
                    <a:schemeClr val="tx1"/>
                  </a:solidFill>
                  <a:latin typeface="Russo One" panose="02000503050000020004" pitchFamily="2" charset="0"/>
                </a:rPr>
                <a:t>02</a:t>
              </a: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6461B1B5-9FCF-A11B-7F21-A6C25135B1E1}"/>
                </a:ext>
              </a:extLst>
            </p:cNvPr>
            <p:cNvSpPr/>
            <p:nvPr/>
          </p:nvSpPr>
          <p:spPr>
            <a:xfrm>
              <a:off x="6301740" y="3634739"/>
              <a:ext cx="1691640" cy="1691640"/>
            </a:xfrm>
            <a:prstGeom prst="ellipse">
              <a:avLst/>
            </a:prstGeom>
            <a:gradFill>
              <a:gsLst>
                <a:gs pos="33000">
                  <a:srgbClr val="FBF8F1"/>
                </a:gs>
                <a:gs pos="77000">
                  <a:srgbClr val="D4D1CC"/>
                </a:gs>
              </a:gsLst>
              <a:lin ang="2700000" scaled="0"/>
            </a:gradFill>
            <a:scene3d>
              <a:camera prst="orthographicFront"/>
              <a:lightRig rig="threePt" dir="t"/>
            </a:scene3d>
            <a:sp3d>
              <a:bevelT w="127000" h="381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STEP</a:t>
              </a:r>
            </a:p>
            <a:p>
              <a:pPr algn="ctr"/>
              <a:r>
                <a:rPr lang="en-US" sz="4800" dirty="0">
                  <a:solidFill>
                    <a:schemeClr val="tx1"/>
                  </a:solidFill>
                  <a:latin typeface="Russo One" panose="02000503050000020004" pitchFamily="2" charset="0"/>
                </a:rPr>
                <a:t>03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F5B6F-6FE3-380C-3946-E52E7D31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328C5F-0412-8061-8598-6A9E972BB75B}"/>
              </a:ext>
            </a:extLst>
          </p:cNvPr>
          <p:cNvSpPr txBox="1"/>
          <p:nvPr/>
        </p:nvSpPr>
        <p:spPr>
          <a:xfrm>
            <a:off x="3048000" y="2028617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SO, WE MUST DO SOME STEPS TO PREPARE CLEAN DATA FOR OUR PROJECT!</a:t>
            </a:r>
          </a:p>
        </p:txBody>
      </p:sp>
    </p:spTree>
    <p:extLst>
      <p:ext uri="{BB962C8B-B14F-4D97-AF65-F5344CB8AC3E}">
        <p14:creationId xmlns:p14="http://schemas.microsoft.com/office/powerpoint/2010/main" val="2201191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833BC-ACF9-0F47-522B-FF8D1F7E3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B781A42-6D72-FB10-E43C-23ACED429C7D}"/>
              </a:ext>
            </a:extLst>
          </p:cNvPr>
          <p:cNvGrpSpPr/>
          <p:nvPr/>
        </p:nvGrpSpPr>
        <p:grpSpPr>
          <a:xfrm>
            <a:off x="1889760" y="1325880"/>
            <a:ext cx="4206240" cy="4206240"/>
            <a:chOff x="1889760" y="1325880"/>
            <a:chExt cx="4206240" cy="4206240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83D92E9D-3F7E-2794-5D25-37FD7022BA24}"/>
                </a:ext>
              </a:extLst>
            </p:cNvPr>
            <p:cNvGrpSpPr/>
            <p:nvPr/>
          </p:nvGrpSpPr>
          <p:grpSpPr>
            <a:xfrm>
              <a:off x="1889760" y="1325880"/>
              <a:ext cx="4206240" cy="4206240"/>
              <a:chOff x="5506720" y="1158240"/>
              <a:chExt cx="3657600" cy="3657600"/>
            </a:xfrm>
            <a:gradFill>
              <a:gsLst>
                <a:gs pos="0">
                  <a:srgbClr val="1A1818"/>
                </a:gs>
                <a:gs pos="100000">
                  <a:srgbClr val="899F7A"/>
                </a:gs>
              </a:gsLst>
              <a:lin ang="600000" scaled="0"/>
            </a:gradFill>
            <a:effectLst>
              <a:outerShdw blurRad="2540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D23A4D07-521B-FF5E-E6B5-66A67204FA60}"/>
                  </a:ext>
                </a:extLst>
              </p:cNvPr>
              <p:cNvSpPr/>
              <p:nvPr/>
            </p:nvSpPr>
            <p:spPr>
              <a:xfrm>
                <a:off x="6421120" y="20726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1371600 w 1828800"/>
                  <a:gd name="csY2" fmla="*/ 914400 h 1828800"/>
                  <a:gd name="csX3" fmla="*/ 914400 w 1828800"/>
                  <a:gd name="csY3" fmla="*/ 1371600 h 1828800"/>
                  <a:gd name="csX4" fmla="*/ 914400 w 1828800"/>
                  <a:gd name="csY4" fmla="*/ 1828800 h 1828800"/>
                  <a:gd name="csX5" fmla="*/ 0 w 1828800"/>
                  <a:gd name="csY5" fmla="*/ 914400 h 1828800"/>
                  <a:gd name="csX6" fmla="*/ 457200 w 1828800"/>
                  <a:gd name="csY6" fmla="*/ 914400 h 1828800"/>
                  <a:gd name="csX7" fmla="*/ 914400 w 1828800"/>
                  <a:gd name="csY7" fmla="*/ 457200 h 1828800"/>
                  <a:gd name="csX8" fmla="*/ 914400 w 1828800"/>
                  <a:gd name="csY8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914400" y="505009"/>
                      <a:pt x="1323791" y="914400"/>
                      <a:pt x="1828800" y="914400"/>
                    </a:cubicBezTo>
                    <a:lnTo>
                      <a:pt x="1371600" y="914400"/>
                    </a:lnTo>
                    <a:cubicBezTo>
                      <a:pt x="1119095" y="914400"/>
                      <a:pt x="914400" y="1119095"/>
                      <a:pt x="914400" y="1371600"/>
                    </a:cubicBezTo>
                    <a:lnTo>
                      <a:pt x="914400" y="1828800"/>
                    </a:lnTo>
                    <a:cubicBezTo>
                      <a:pt x="914400" y="1323791"/>
                      <a:pt x="505009" y="914400"/>
                      <a:pt x="0" y="914400"/>
                    </a:cubicBezTo>
                    <a:lnTo>
                      <a:pt x="457200" y="914400"/>
                    </a:lnTo>
                    <a:cubicBezTo>
                      <a:pt x="709705" y="914400"/>
                      <a:pt x="914400" y="709705"/>
                      <a:pt x="914400" y="457200"/>
                    </a:cubicBezTo>
                    <a:lnTo>
                      <a:pt x="91440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DE5AD740-C760-9E48-E47D-4C680C27E999}"/>
                  </a:ext>
                </a:extLst>
              </p:cNvPr>
              <p:cNvSpPr/>
              <p:nvPr/>
            </p:nvSpPr>
            <p:spPr>
              <a:xfrm>
                <a:off x="7335520" y="11582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F9072F4-BD09-7B11-A61F-E3C92F3881BD}"/>
                  </a:ext>
                </a:extLst>
              </p:cNvPr>
              <p:cNvSpPr/>
              <p:nvPr/>
            </p:nvSpPr>
            <p:spPr>
              <a:xfrm>
                <a:off x="5506720" y="29870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BA2AAAD6-800D-34D4-920C-3C1A86000B27}"/>
                </a:ext>
              </a:extLst>
            </p:cNvPr>
            <p:cNvSpPr/>
            <p:nvPr/>
          </p:nvSpPr>
          <p:spPr>
            <a:xfrm>
              <a:off x="2095500" y="3634739"/>
              <a:ext cx="1691640" cy="1691640"/>
            </a:xfrm>
            <a:prstGeom prst="ellipse">
              <a:avLst/>
            </a:prstGeom>
            <a:gradFill>
              <a:gsLst>
                <a:gs pos="33000">
                  <a:srgbClr val="FBF8F1"/>
                </a:gs>
                <a:gs pos="77000">
                  <a:srgbClr val="D4D1CC"/>
                </a:gs>
              </a:gsLst>
              <a:lin ang="2700000" scaled="0"/>
            </a:gradFill>
            <a:scene3d>
              <a:camera prst="orthographicFront"/>
              <a:lightRig rig="threePt" dir="t"/>
            </a:scene3d>
            <a:sp3d>
              <a:bevelT w="127000" h="381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STEP</a:t>
              </a:r>
            </a:p>
            <a:p>
              <a:pPr algn="ctr"/>
              <a:r>
                <a:rPr lang="en-US" sz="4800" dirty="0">
                  <a:solidFill>
                    <a:schemeClr val="tx1"/>
                  </a:solidFill>
                  <a:latin typeface="Russo One" panose="02000503050000020004" pitchFamily="2" charset="0"/>
                </a:rPr>
                <a:t>01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65E63A2-304D-8DD7-2C60-47D8DB1E1AB9}"/>
              </a:ext>
            </a:extLst>
          </p:cNvPr>
          <p:cNvGrpSpPr/>
          <p:nvPr/>
        </p:nvGrpSpPr>
        <p:grpSpPr>
          <a:xfrm>
            <a:off x="6096000" y="1325878"/>
            <a:ext cx="4206240" cy="4206240"/>
            <a:chOff x="6096000" y="1325880"/>
            <a:chExt cx="4206240" cy="4206240"/>
          </a:xfrm>
        </p:grpSpPr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3316C681-B8D3-995A-DBCB-A58EE8AF1396}"/>
                </a:ext>
              </a:extLst>
            </p:cNvPr>
            <p:cNvGrpSpPr/>
            <p:nvPr/>
          </p:nvGrpSpPr>
          <p:grpSpPr>
            <a:xfrm>
              <a:off x="6096000" y="1325880"/>
              <a:ext cx="4206240" cy="4206240"/>
              <a:chOff x="5506720" y="1158240"/>
              <a:chExt cx="3657600" cy="3657600"/>
            </a:xfrm>
            <a:gradFill>
              <a:gsLst>
                <a:gs pos="0">
                  <a:srgbClr val="1A1818"/>
                </a:gs>
                <a:gs pos="100000">
                  <a:srgbClr val="899F7A"/>
                </a:gs>
              </a:gsLst>
              <a:lin ang="600000" scaled="0"/>
            </a:gradFill>
            <a:effectLst>
              <a:outerShdw blurRad="2540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DDCC307F-DF2B-F2F3-0B52-F53A023EC064}"/>
                  </a:ext>
                </a:extLst>
              </p:cNvPr>
              <p:cNvSpPr/>
              <p:nvPr/>
            </p:nvSpPr>
            <p:spPr>
              <a:xfrm>
                <a:off x="6421120" y="20726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1371600 w 1828800"/>
                  <a:gd name="csY2" fmla="*/ 914400 h 1828800"/>
                  <a:gd name="csX3" fmla="*/ 914400 w 1828800"/>
                  <a:gd name="csY3" fmla="*/ 1371600 h 1828800"/>
                  <a:gd name="csX4" fmla="*/ 914400 w 1828800"/>
                  <a:gd name="csY4" fmla="*/ 1828800 h 1828800"/>
                  <a:gd name="csX5" fmla="*/ 0 w 1828800"/>
                  <a:gd name="csY5" fmla="*/ 914400 h 1828800"/>
                  <a:gd name="csX6" fmla="*/ 457200 w 1828800"/>
                  <a:gd name="csY6" fmla="*/ 914400 h 1828800"/>
                  <a:gd name="csX7" fmla="*/ 914400 w 1828800"/>
                  <a:gd name="csY7" fmla="*/ 457200 h 1828800"/>
                  <a:gd name="csX8" fmla="*/ 914400 w 1828800"/>
                  <a:gd name="csY8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914400" y="505009"/>
                      <a:pt x="1323791" y="914400"/>
                      <a:pt x="1828800" y="914400"/>
                    </a:cubicBezTo>
                    <a:lnTo>
                      <a:pt x="1371600" y="914400"/>
                    </a:lnTo>
                    <a:cubicBezTo>
                      <a:pt x="1119095" y="914400"/>
                      <a:pt x="914400" y="1119095"/>
                      <a:pt x="914400" y="1371600"/>
                    </a:cubicBezTo>
                    <a:lnTo>
                      <a:pt x="914400" y="1828800"/>
                    </a:lnTo>
                    <a:cubicBezTo>
                      <a:pt x="914400" y="1323791"/>
                      <a:pt x="505009" y="914400"/>
                      <a:pt x="0" y="914400"/>
                    </a:cubicBezTo>
                    <a:lnTo>
                      <a:pt x="457200" y="914400"/>
                    </a:lnTo>
                    <a:cubicBezTo>
                      <a:pt x="709705" y="914400"/>
                      <a:pt x="914400" y="709705"/>
                      <a:pt x="914400" y="457200"/>
                    </a:cubicBezTo>
                    <a:lnTo>
                      <a:pt x="91440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521108B-90D4-C548-23E3-14B8C178171D}"/>
                  </a:ext>
                </a:extLst>
              </p:cNvPr>
              <p:cNvSpPr/>
              <p:nvPr/>
            </p:nvSpPr>
            <p:spPr>
              <a:xfrm>
                <a:off x="7335520" y="11582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0CB3DC33-6AD6-3A49-F659-8F8988D7D9CC}"/>
                  </a:ext>
                </a:extLst>
              </p:cNvPr>
              <p:cNvSpPr/>
              <p:nvPr/>
            </p:nvSpPr>
            <p:spPr>
              <a:xfrm>
                <a:off x="5506720" y="29870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07F3697A-534B-8729-F119-696D6DD41235}"/>
                </a:ext>
              </a:extLst>
            </p:cNvPr>
            <p:cNvSpPr/>
            <p:nvPr/>
          </p:nvSpPr>
          <p:spPr>
            <a:xfrm>
              <a:off x="8404860" y="1531619"/>
              <a:ext cx="1691640" cy="1691640"/>
            </a:xfrm>
            <a:prstGeom prst="ellipse">
              <a:avLst/>
            </a:prstGeom>
            <a:gradFill>
              <a:gsLst>
                <a:gs pos="33000">
                  <a:srgbClr val="FBF8F1"/>
                </a:gs>
                <a:gs pos="77000">
                  <a:srgbClr val="D4D1CC"/>
                </a:gs>
              </a:gsLst>
              <a:lin ang="2700000" scaled="0"/>
            </a:gradFill>
            <a:scene3d>
              <a:camera prst="orthographicFront"/>
              <a:lightRig rig="threePt" dir="t"/>
            </a:scene3d>
            <a:sp3d>
              <a:bevelT w="127000" h="381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STEP</a:t>
              </a:r>
            </a:p>
            <a:p>
              <a:pPr algn="ctr"/>
              <a:r>
                <a:rPr lang="en-US" sz="4800" dirty="0">
                  <a:solidFill>
                    <a:schemeClr val="tx1"/>
                  </a:solidFill>
                  <a:latin typeface="Russo One" panose="02000503050000020004" pitchFamily="2" charset="0"/>
                </a:rPr>
                <a:t>04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74B36C3-01E8-B38D-CED8-0C2C4C759209}"/>
              </a:ext>
            </a:extLst>
          </p:cNvPr>
          <p:cNvGrpSpPr/>
          <p:nvPr/>
        </p:nvGrpSpPr>
        <p:grpSpPr>
          <a:xfrm>
            <a:off x="3992880" y="1325880"/>
            <a:ext cx="4206240" cy="4206240"/>
            <a:chOff x="3992880" y="1325880"/>
            <a:chExt cx="4206240" cy="420624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42FA77AB-A093-EC0B-CC11-721A8115019F}"/>
                </a:ext>
              </a:extLst>
            </p:cNvPr>
            <p:cNvGrpSpPr/>
            <p:nvPr/>
          </p:nvGrpSpPr>
          <p:grpSpPr>
            <a:xfrm rot="16200000">
              <a:off x="3992880" y="1325880"/>
              <a:ext cx="4206240" cy="4206240"/>
              <a:chOff x="5506720" y="1158240"/>
              <a:chExt cx="3657600" cy="3657600"/>
            </a:xfrm>
            <a:gradFill>
              <a:gsLst>
                <a:gs pos="0">
                  <a:srgbClr val="1A1818"/>
                </a:gs>
                <a:gs pos="100000">
                  <a:srgbClr val="899F7A"/>
                </a:gs>
              </a:gsLst>
              <a:lin ang="600000" scaled="0"/>
            </a:gradFill>
            <a:effectLst>
              <a:outerShdw blurRad="2540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903BB0FA-9507-4621-693B-0890CDDAB2E3}"/>
                  </a:ext>
                </a:extLst>
              </p:cNvPr>
              <p:cNvSpPr/>
              <p:nvPr/>
            </p:nvSpPr>
            <p:spPr>
              <a:xfrm>
                <a:off x="6421120" y="20726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1371600 w 1828800"/>
                  <a:gd name="csY2" fmla="*/ 914400 h 1828800"/>
                  <a:gd name="csX3" fmla="*/ 914400 w 1828800"/>
                  <a:gd name="csY3" fmla="*/ 1371600 h 1828800"/>
                  <a:gd name="csX4" fmla="*/ 914400 w 1828800"/>
                  <a:gd name="csY4" fmla="*/ 1828800 h 1828800"/>
                  <a:gd name="csX5" fmla="*/ 0 w 1828800"/>
                  <a:gd name="csY5" fmla="*/ 914400 h 1828800"/>
                  <a:gd name="csX6" fmla="*/ 457200 w 1828800"/>
                  <a:gd name="csY6" fmla="*/ 914400 h 1828800"/>
                  <a:gd name="csX7" fmla="*/ 914400 w 1828800"/>
                  <a:gd name="csY7" fmla="*/ 457200 h 1828800"/>
                  <a:gd name="csX8" fmla="*/ 914400 w 1828800"/>
                  <a:gd name="csY8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914400" y="505009"/>
                      <a:pt x="1323791" y="914400"/>
                      <a:pt x="1828800" y="914400"/>
                    </a:cubicBezTo>
                    <a:lnTo>
                      <a:pt x="1371600" y="914400"/>
                    </a:lnTo>
                    <a:cubicBezTo>
                      <a:pt x="1119095" y="914400"/>
                      <a:pt x="914400" y="1119095"/>
                      <a:pt x="914400" y="1371600"/>
                    </a:cubicBezTo>
                    <a:lnTo>
                      <a:pt x="914400" y="1828800"/>
                    </a:lnTo>
                    <a:cubicBezTo>
                      <a:pt x="914400" y="1323791"/>
                      <a:pt x="505009" y="914400"/>
                      <a:pt x="0" y="914400"/>
                    </a:cubicBezTo>
                    <a:lnTo>
                      <a:pt x="457200" y="914400"/>
                    </a:lnTo>
                    <a:cubicBezTo>
                      <a:pt x="709705" y="914400"/>
                      <a:pt x="914400" y="709705"/>
                      <a:pt x="914400" y="457200"/>
                    </a:cubicBezTo>
                    <a:lnTo>
                      <a:pt x="91440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400300FE-D7DD-2782-5D71-4D4ECE8AEB65}"/>
                  </a:ext>
                </a:extLst>
              </p:cNvPr>
              <p:cNvSpPr/>
              <p:nvPr/>
            </p:nvSpPr>
            <p:spPr>
              <a:xfrm>
                <a:off x="7335520" y="11582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2397B881-03E1-D594-2747-1E24834AFEFE}"/>
                  </a:ext>
                </a:extLst>
              </p:cNvPr>
              <p:cNvSpPr/>
              <p:nvPr/>
            </p:nvSpPr>
            <p:spPr>
              <a:xfrm>
                <a:off x="5506720" y="2987040"/>
                <a:ext cx="1828800" cy="1828800"/>
              </a:xfrm>
              <a:custGeom>
                <a:avLst/>
                <a:gdLst>
                  <a:gd name="csX0" fmla="*/ 914400 w 1828800"/>
                  <a:gd name="csY0" fmla="*/ 0 h 1828800"/>
                  <a:gd name="csX1" fmla="*/ 1828800 w 1828800"/>
                  <a:gd name="csY1" fmla="*/ 914400 h 1828800"/>
                  <a:gd name="csX2" fmla="*/ 914400 w 1828800"/>
                  <a:gd name="csY2" fmla="*/ 1828800 h 1828800"/>
                  <a:gd name="csX3" fmla="*/ 0 w 1828800"/>
                  <a:gd name="csY3" fmla="*/ 914400 h 1828800"/>
                  <a:gd name="csX4" fmla="*/ 914400 w 1828800"/>
                  <a:gd name="csY4" fmla="*/ 0 h 18288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828800" h="1828800">
                    <a:moveTo>
                      <a:pt x="914400" y="0"/>
                    </a:moveTo>
                    <a:cubicBezTo>
                      <a:pt x="1419409" y="0"/>
                      <a:pt x="1828800" y="409391"/>
                      <a:pt x="1828800" y="914400"/>
                    </a:cubicBezTo>
                    <a:cubicBezTo>
                      <a:pt x="1828800" y="1419409"/>
                      <a:pt x="1419409" y="1828800"/>
                      <a:pt x="914400" y="1828800"/>
                    </a:cubicBezTo>
                    <a:cubicBezTo>
                      <a:pt x="409391" y="1828800"/>
                      <a:pt x="0" y="1419409"/>
                      <a:pt x="0" y="914400"/>
                    </a:cubicBezTo>
                    <a:cubicBezTo>
                      <a:pt x="0" y="409391"/>
                      <a:pt x="409391" y="0"/>
                      <a:pt x="9144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7DEB7F3D-534A-6DFF-26AE-8A9B6A39A261}"/>
                </a:ext>
              </a:extLst>
            </p:cNvPr>
            <p:cNvSpPr/>
            <p:nvPr/>
          </p:nvSpPr>
          <p:spPr>
            <a:xfrm>
              <a:off x="4221480" y="1554478"/>
              <a:ext cx="1691640" cy="1691640"/>
            </a:xfrm>
            <a:prstGeom prst="ellipse">
              <a:avLst/>
            </a:prstGeom>
            <a:gradFill>
              <a:gsLst>
                <a:gs pos="33000">
                  <a:srgbClr val="FBF8F1"/>
                </a:gs>
                <a:gs pos="77000">
                  <a:srgbClr val="D4D1CC"/>
                </a:gs>
              </a:gsLst>
              <a:lin ang="2700000" scaled="0"/>
            </a:gradFill>
            <a:scene3d>
              <a:camera prst="orthographicFront"/>
              <a:lightRig rig="threePt" dir="t"/>
            </a:scene3d>
            <a:sp3d>
              <a:bevelT w="127000" h="381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STEP</a:t>
              </a:r>
            </a:p>
            <a:p>
              <a:pPr algn="ctr"/>
              <a:r>
                <a:rPr lang="en-US" sz="4800" dirty="0">
                  <a:solidFill>
                    <a:schemeClr val="tx1"/>
                  </a:solidFill>
                  <a:latin typeface="Russo One" panose="02000503050000020004" pitchFamily="2" charset="0"/>
                </a:rPr>
                <a:t>02</a:t>
              </a: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4A197DC4-B79A-9688-3F12-F506F57DD071}"/>
                </a:ext>
              </a:extLst>
            </p:cNvPr>
            <p:cNvSpPr/>
            <p:nvPr/>
          </p:nvSpPr>
          <p:spPr>
            <a:xfrm>
              <a:off x="6301740" y="3634739"/>
              <a:ext cx="1691640" cy="1691640"/>
            </a:xfrm>
            <a:prstGeom prst="ellipse">
              <a:avLst/>
            </a:prstGeom>
            <a:gradFill>
              <a:gsLst>
                <a:gs pos="33000">
                  <a:srgbClr val="FBF8F1"/>
                </a:gs>
                <a:gs pos="77000">
                  <a:srgbClr val="D4D1CC"/>
                </a:gs>
              </a:gsLst>
              <a:lin ang="2700000" scaled="0"/>
            </a:gradFill>
            <a:scene3d>
              <a:camera prst="orthographicFront"/>
              <a:lightRig rig="threePt" dir="t"/>
            </a:scene3d>
            <a:sp3d>
              <a:bevelT w="127000" h="381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Aptos" panose="020B0004020202020204" pitchFamily="34" charset="0"/>
                </a:rPr>
                <a:t>STEP</a:t>
              </a:r>
            </a:p>
            <a:p>
              <a:pPr algn="ctr"/>
              <a:r>
                <a:rPr lang="en-US" sz="4800" dirty="0">
                  <a:solidFill>
                    <a:schemeClr val="tx1"/>
                  </a:solidFill>
                  <a:latin typeface="Russo One" panose="02000503050000020004" pitchFamily="2" charset="0"/>
                </a:rPr>
                <a:t>03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B224A-E296-2E03-33C9-8CD01ECC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039FB-6027-5D9B-4429-5E51AD31C0DB}"/>
              </a:ext>
            </a:extLst>
          </p:cNvPr>
          <p:cNvSpPr txBox="1"/>
          <p:nvPr/>
        </p:nvSpPr>
        <p:spPr>
          <a:xfrm>
            <a:off x="1585436" y="1861689"/>
            <a:ext cx="23869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ptos" panose="020B0004020202020204" pitchFamily="34" charset="0"/>
              </a:rPr>
              <a:t>EXCEL</a:t>
            </a:r>
          </a:p>
          <a:p>
            <a:pPr lvl="0" algn="ctr"/>
            <a:r>
              <a:rPr lang="en-US" sz="1600" dirty="0">
                <a:latin typeface="Aptos" panose="020B0004020202020204" pitchFamily="34" charset="0"/>
              </a:rPr>
              <a:t>Source data was collected and prepared from the project Excel sheets.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99F73-2DEE-EC32-A983-2D066F352CAD}"/>
              </a:ext>
            </a:extLst>
          </p:cNvPr>
          <p:cNvSpPr txBox="1"/>
          <p:nvPr/>
        </p:nvSpPr>
        <p:spPr>
          <a:xfrm>
            <a:off x="3972400" y="3919093"/>
            <a:ext cx="21031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ptos" panose="020B0004020202020204" pitchFamily="34" charset="0"/>
              </a:rPr>
              <a:t>POWER QUERY</a:t>
            </a:r>
          </a:p>
          <a:p>
            <a:pPr lvl="0" algn="ctr"/>
            <a:r>
              <a:rPr lang="en-US" sz="1600" dirty="0">
                <a:latin typeface="Aptos" panose="020B0004020202020204" pitchFamily="34" charset="0"/>
              </a:rPr>
              <a:t>Data was cleaned, transformed, and combined into a structured format.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C53ED3-128B-F715-63A4-CD686CB80C12}"/>
              </a:ext>
            </a:extLst>
          </p:cNvPr>
          <p:cNvSpPr txBox="1"/>
          <p:nvPr/>
        </p:nvSpPr>
        <p:spPr>
          <a:xfrm>
            <a:off x="6075521" y="1383756"/>
            <a:ext cx="2103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ptos" panose="020B0004020202020204" pitchFamily="34" charset="0"/>
              </a:rPr>
              <a:t>DATA MODEL</a:t>
            </a:r>
            <a:endParaRPr lang="en-US" dirty="0"/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Tables were organized and connected using relationships and keys.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6CD909-F6EE-F19E-C1C8-13FDD9AF901B}"/>
              </a:ext>
            </a:extLst>
          </p:cNvPr>
          <p:cNvSpPr txBox="1"/>
          <p:nvPr/>
        </p:nvSpPr>
        <p:spPr>
          <a:xfrm>
            <a:off x="8341042" y="3775610"/>
            <a:ext cx="23869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ptos" panose="020B0004020202020204" pitchFamily="34" charset="0"/>
              </a:rPr>
              <a:t>Dashboard</a:t>
            </a:r>
          </a:p>
          <a:p>
            <a:pPr lvl="0" algn="ctr"/>
            <a:r>
              <a:rPr lang="en-US" sz="1600" dirty="0">
                <a:latin typeface="Aptos" panose="020B0004020202020204" pitchFamily="34" charset="0"/>
              </a:rPr>
              <a:t>The final data model was used to build interactive Power BI dashboards.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A197D6-0B57-237C-B2A3-D28122315296}"/>
              </a:ext>
            </a:extLst>
          </p:cNvPr>
          <p:cNvSpPr txBox="1"/>
          <p:nvPr/>
        </p:nvSpPr>
        <p:spPr>
          <a:xfrm>
            <a:off x="1882845" y="186612"/>
            <a:ext cx="8426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INGESTION &amp; DATA TRANSFORMATION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usso On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619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30000">
        <p159:morph option="byObject"/>
      </p:transition>
    </mc:Choice>
    <mc:Fallback xmlns="">
      <p:transition spd="slow" advClick="0" advTm="3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4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A9CB7-171A-78E8-C9B2-7E2F490A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91441EF-9FFE-F0CD-8767-76615499C3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322649-FEE5-DF14-0B77-51DA1712099D}"/>
              </a:ext>
            </a:extLst>
          </p:cNvPr>
          <p:cNvSpPr txBox="1"/>
          <p:nvPr/>
        </p:nvSpPr>
        <p:spPr>
          <a:xfrm>
            <a:off x="1122589" y="287111"/>
            <a:ext cx="9946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DAX BUSINESS LOGIC &amp; MEASURES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39017F-BD02-A24D-287B-80464FB7F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403187"/>
              </p:ext>
            </p:extLst>
          </p:nvPr>
        </p:nvGraphicFramePr>
        <p:xfrm>
          <a:off x="428625" y="1424858"/>
          <a:ext cx="11334750" cy="400828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tableStyleId>{912C8C85-51F0-491E-9774-3900AFEF0FD7}</a:tableStyleId>
              </a:tblPr>
              <a:tblGrid>
                <a:gridCol w="2266950">
                  <a:extLst>
                    <a:ext uri="{9D8B030D-6E8A-4147-A177-3AD203B41FA5}">
                      <a16:colId xmlns:a16="http://schemas.microsoft.com/office/drawing/2014/main" val="2148306205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199452129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1901719373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332531420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1993897904"/>
                    </a:ext>
                  </a:extLst>
                </a:gridCol>
              </a:tblGrid>
              <a:tr h="74692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2EFE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" panose="020B0004020202020204" pitchFamily="34" charset="0"/>
                        </a:rPr>
                        <a:t>Sales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2EFE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" panose="020B0004020202020204" pitchFamily="34" charset="0"/>
                        </a:rPr>
                        <a:t>Collection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2EFE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" panose="020B0004020202020204" pitchFamily="34" charset="0"/>
                        </a:rPr>
                        <a:t>Amount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2EFE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" panose="020B0004020202020204" pitchFamily="34" charset="0"/>
                        </a:rPr>
                        <a:t>Project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2EFE9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" panose="020B0004020202020204" pitchFamily="34" charset="0"/>
                        </a:rPr>
                        <a:t>Time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9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22698"/>
                  </a:ext>
                </a:extLst>
              </a:tr>
              <a:tr h="2765055">
                <a:tc>
                  <a:txBody>
                    <a:bodyPr/>
                    <a:lstStyle/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Sold Count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Sold %</a:t>
                      </a:r>
                    </a:p>
                    <a:p>
                      <a:pPr algn="ctr"/>
                      <a:endParaRPr lang="en-US" sz="1600" b="0" dirty="0">
                        <a:solidFill>
                          <a:srgbClr val="1A1818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Issued Invoices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Collected Invoices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Outstanding Invoices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Collection Rate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Outstanding %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600" b="0" dirty="0">
                        <a:solidFill>
                          <a:srgbClr val="1A1818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endParaRPr lang="en-US" sz="1600" b="0" dirty="0">
                        <a:solidFill>
                          <a:srgbClr val="1A1818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Invoiced Amount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Collected Amount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Outstanding Amount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Unit Price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Bank Outstanding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Cash Outstanding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endParaRPr lang="en-US" sz="1600" b="0" dirty="0">
                        <a:solidFill>
                          <a:srgbClr val="1A1818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endParaRPr lang="en-US" sz="1600" b="0" dirty="0">
                        <a:solidFill>
                          <a:srgbClr val="1A1818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endParaRPr lang="ar-EG" sz="1600" b="0" dirty="0">
                        <a:solidFill>
                          <a:srgbClr val="1A1818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endParaRPr lang="en-US" sz="1600" b="0" dirty="0">
                        <a:solidFill>
                          <a:srgbClr val="1A1818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algn="ctr"/>
                      <a:endParaRPr lang="en-US" sz="1600" b="0" dirty="0">
                        <a:solidFill>
                          <a:srgbClr val="1A1818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Project Completion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Old Records</a:t>
                      </a:r>
                    </a:p>
                    <a:p>
                      <a:pPr marL="285750" lvl="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solidFill>
                            <a:srgbClr val="1A1818"/>
                          </a:solidFill>
                          <a:effectLst/>
                          <a:latin typeface="Aptos" panose="020B0004020202020204" pitchFamily="34" charset="0"/>
                        </a:rPr>
                        <a:t>New Records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600" b="0" dirty="0">
                        <a:solidFill>
                          <a:srgbClr val="1A1818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22777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35C2EB1-06F9-B60B-4058-7728BE1BEC33}"/>
              </a:ext>
            </a:extLst>
          </p:cNvPr>
          <p:cNvSpPr txBox="1"/>
          <p:nvPr/>
        </p:nvSpPr>
        <p:spPr>
          <a:xfrm>
            <a:off x="914400" y="5625787"/>
            <a:ext cx="10229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The measures follow the defined business rules and exclude the three control rows from customer-level calculations.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8D8C5-BBB1-5B8C-05B7-2D1AC84F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270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AAF9D-B2A0-03CD-E682-989EF6802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3ECC9B90-255B-FDEA-1C60-69217D83B0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"/>
            <a:ext cx="12192000" cy="68578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898546-2164-FC71-302A-23274E72424A}"/>
              </a:ext>
            </a:extLst>
          </p:cNvPr>
          <p:cNvSpPr txBox="1"/>
          <p:nvPr/>
        </p:nvSpPr>
        <p:spPr>
          <a:xfrm>
            <a:off x="872315" y="287111"/>
            <a:ext cx="10447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REPORT ARCHITECTURE &amp; UI/UX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7873E-8CFD-EE8B-E6E0-D3B7EA2A2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90909-2ED9-C343-CF1D-6A8017E6656E}"/>
              </a:ext>
            </a:extLst>
          </p:cNvPr>
          <p:cNvSpPr txBox="1"/>
          <p:nvPr/>
        </p:nvSpPr>
        <p:spPr>
          <a:xfrm>
            <a:off x="872315" y="1351508"/>
            <a:ext cx="1044737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Report Architecture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The report follows the required project architecture with a small improvement in the way the project pages are implemented.</a:t>
            </a:r>
            <a:endParaRPr lang="ar-EG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Instead of creating separate pages for each project, we reduced the number of pages and used a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Project Slicer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to dynamically display the selected project on the same page.</a:t>
            </a:r>
            <a:endParaRPr lang="ar-EG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This approach keeps the report more organized, reduces page repetition, and provides a more consistent user experience while still covering all required project views.</a:t>
            </a:r>
          </a:p>
        </p:txBody>
      </p:sp>
    </p:spTree>
    <p:extLst>
      <p:ext uri="{BB962C8B-B14F-4D97-AF65-F5344CB8AC3E}">
        <p14:creationId xmlns:p14="http://schemas.microsoft.com/office/powerpoint/2010/main" val="4195243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68A04-1A0C-6D5E-8A1F-7E7CD49DB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856D3-8CAD-8516-12D2-0F90D4612FAA}"/>
              </a:ext>
            </a:extLst>
          </p:cNvPr>
          <p:cNvSpPr txBox="1"/>
          <p:nvPr/>
        </p:nvSpPr>
        <p:spPr>
          <a:xfrm>
            <a:off x="872315" y="287111"/>
            <a:ext cx="10447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REPORT ARCHITECTURE &amp; UI/UX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137FD-9C46-505C-7E18-1852268A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26644-B3FA-37B0-812C-92D17FECE3E2}"/>
              </a:ext>
            </a:extLst>
          </p:cNvPr>
          <p:cNvSpPr txBox="1"/>
          <p:nvPr/>
        </p:nvSpPr>
        <p:spPr>
          <a:xfrm>
            <a:off x="1007678" y="938578"/>
            <a:ext cx="405668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UI/UX Design</a:t>
            </a:r>
          </a:p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The UI/UX design was developed to provide a clear, consistent, and user-friendly experience across the report.</a:t>
            </a:r>
            <a:endParaRPr lang="ar-EG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The visual identity was inspired by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MORSHEDY GROUP new logo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, using its main colors as the foundation for the report's color palette.</a:t>
            </a:r>
          </a:p>
          <a:p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The selected colors were applied consistently across cards, charts, slicers, navigation buttons, backgrounds, and other report elements to create a unified visual identity.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0570A2-A11E-00D6-0D0A-4FFD3B30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393" y="1113564"/>
            <a:ext cx="4251292" cy="1312022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AAB9D4-1585-517A-5981-D53F952C5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997" y="2425586"/>
            <a:ext cx="4056688" cy="29977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E02E32-00FE-3D66-F1EF-1C44960FAD4B}"/>
              </a:ext>
            </a:extLst>
          </p:cNvPr>
          <p:cNvSpPr txBox="1"/>
          <p:nvPr/>
        </p:nvSpPr>
        <p:spPr>
          <a:xfrm>
            <a:off x="6653646" y="5513433"/>
            <a:ext cx="4801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ptos" panose="020B0004020202020204" pitchFamily="34" charset="0"/>
              </a:rPr>
              <a:t>The color palette was derived from the new brand identity to maintain visual consistency throughout the report.</a:t>
            </a:r>
            <a:endParaRPr lang="en-US" sz="1400" b="1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960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750"/>
                            </p:stCondLst>
                            <p:childTnLst>
                              <p:par>
                                <p:cTn id="26" presetID="26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500"/>
                            </p:stCondLst>
                            <p:childTnLst>
                              <p:par>
                                <p:cTn id="43" presetID="26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9250"/>
                            </p:stCondLst>
                            <p:childTnLst>
                              <p:par>
                                <p:cTn id="60" presetID="26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EED61-1B5F-409B-0817-A56876D6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DB2F6C-C765-4729-1A9E-7751055A101B}"/>
              </a:ext>
            </a:extLst>
          </p:cNvPr>
          <p:cNvSpPr txBox="1"/>
          <p:nvPr/>
        </p:nvSpPr>
        <p:spPr>
          <a:xfrm>
            <a:off x="872315" y="287111"/>
            <a:ext cx="10447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REPORT ARCHITECTURE &amp; UI/UX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04492-1CA2-2EA3-1AA3-0CDCE40A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6DA7E-F312-08D7-97BE-E4E2737C1713}"/>
              </a:ext>
            </a:extLst>
          </p:cNvPr>
          <p:cNvSpPr txBox="1"/>
          <p:nvPr/>
        </p:nvSpPr>
        <p:spPr>
          <a:xfrm>
            <a:off x="906430" y="1027339"/>
            <a:ext cx="1948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1A1818"/>
                </a:solidFill>
                <a:latin typeface="Russo One" panose="02000503050000020004" pitchFamily="2" charset="0"/>
              </a:rPr>
              <a:t>Home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CCF494-E03F-D938-092B-FF927ABAC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177" y="1606775"/>
            <a:ext cx="8527647" cy="474957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84901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99000-7AA8-7EC7-A12F-675CE4506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660401-2B17-152A-5C6C-F0AC7E64553D}"/>
              </a:ext>
            </a:extLst>
          </p:cNvPr>
          <p:cNvSpPr txBox="1"/>
          <p:nvPr/>
        </p:nvSpPr>
        <p:spPr>
          <a:xfrm>
            <a:off x="872315" y="287111"/>
            <a:ext cx="10447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REPORT ARCHITECTURE &amp; UI/UX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3719A-D9D3-63F7-3400-2BF2ADCA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1CD1E7-AB04-AE81-5561-BBFCA631D864}"/>
              </a:ext>
            </a:extLst>
          </p:cNvPr>
          <p:cNvSpPr txBox="1"/>
          <p:nvPr/>
        </p:nvSpPr>
        <p:spPr>
          <a:xfrm>
            <a:off x="906430" y="1027339"/>
            <a:ext cx="3338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1A1818"/>
                </a:solidFill>
                <a:latin typeface="Russo One" panose="02000503050000020004" pitchFamily="2" charset="0"/>
              </a:rPr>
              <a:t>Global Summary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5778FF-E510-D93C-36B6-75B233A58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699" y="1591761"/>
            <a:ext cx="8476603" cy="461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42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AE3B-FE5F-DF31-38FA-E0CEA06C6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682C43-9383-A629-C4C9-9A0AA2A893F9}"/>
              </a:ext>
            </a:extLst>
          </p:cNvPr>
          <p:cNvSpPr txBox="1"/>
          <p:nvPr/>
        </p:nvSpPr>
        <p:spPr>
          <a:xfrm>
            <a:off x="872315" y="287111"/>
            <a:ext cx="10447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REPORT ARCHITECTURE &amp; UI/UX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73E62-1C18-D6B3-2F76-7D0D4497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832246-E428-A0E0-E38E-FA0FD46198B1}"/>
              </a:ext>
            </a:extLst>
          </p:cNvPr>
          <p:cNvSpPr txBox="1"/>
          <p:nvPr/>
        </p:nvSpPr>
        <p:spPr>
          <a:xfrm>
            <a:off x="906430" y="1027339"/>
            <a:ext cx="3992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1A1818"/>
                </a:solidFill>
                <a:latin typeface="Russo One" panose="02000503050000020004" pitchFamily="2" charset="0"/>
              </a:rPr>
              <a:t>Collection by date summary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EF9A60-AED2-865D-6F0B-593B7C831F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167" y="1521346"/>
            <a:ext cx="8683667" cy="468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627D4-FE6D-6334-E460-5329F22A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A500AC-E721-B0C6-4DE2-586A61B74693}"/>
              </a:ext>
            </a:extLst>
          </p:cNvPr>
          <p:cNvSpPr txBox="1"/>
          <p:nvPr/>
        </p:nvSpPr>
        <p:spPr>
          <a:xfrm>
            <a:off x="872315" y="287111"/>
            <a:ext cx="10447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REPORT ARCHITECTURE &amp; UI/UX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322BF4-82E3-9DBC-A947-79376732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14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15DDED-0170-3BBB-754D-5B7B554A129F}"/>
              </a:ext>
            </a:extLst>
          </p:cNvPr>
          <p:cNvSpPr txBox="1"/>
          <p:nvPr/>
        </p:nvSpPr>
        <p:spPr>
          <a:xfrm>
            <a:off x="906430" y="1027339"/>
            <a:ext cx="3992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1A1818"/>
                </a:solidFill>
                <a:latin typeface="Russo One" panose="02000503050000020004" pitchFamily="2" charset="0"/>
              </a:rPr>
              <a:t>Project Overall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03F264-256A-67EC-EA60-913A074E1F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541" y="1586398"/>
            <a:ext cx="8662919" cy="470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3117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99B1F-3E74-4521-ECAC-9A7B06CE5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56F049-500E-1188-112D-53F5355E70AD}"/>
              </a:ext>
            </a:extLst>
          </p:cNvPr>
          <p:cNvSpPr txBox="1"/>
          <p:nvPr/>
        </p:nvSpPr>
        <p:spPr>
          <a:xfrm>
            <a:off x="872315" y="287111"/>
            <a:ext cx="10447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REPORT ARCHITECTURE &amp; UI/UX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A5BC2-9F51-1631-6E83-B3B385F2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15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A308D5-71F5-6109-9931-8C0C4BE0DCB9}"/>
              </a:ext>
            </a:extLst>
          </p:cNvPr>
          <p:cNvSpPr txBox="1"/>
          <p:nvPr/>
        </p:nvSpPr>
        <p:spPr>
          <a:xfrm>
            <a:off x="906430" y="1027339"/>
            <a:ext cx="3992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1A1818"/>
                </a:solidFill>
                <a:latin typeface="Russo One" panose="02000503050000020004" pitchFamily="2" charset="0"/>
              </a:rPr>
              <a:t>Project Cash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9B743F-F272-6C7F-3EAF-DDF0DC0BC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654" y="1552858"/>
            <a:ext cx="8742693" cy="469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281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E248E-426D-030A-60B2-7D027ABB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025ECA-ABB7-334B-11A1-BD9F62426F75}"/>
              </a:ext>
            </a:extLst>
          </p:cNvPr>
          <p:cNvSpPr txBox="1"/>
          <p:nvPr/>
        </p:nvSpPr>
        <p:spPr>
          <a:xfrm>
            <a:off x="872315" y="287111"/>
            <a:ext cx="10447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REPORT ARCHITECTURE &amp; UI/UX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B06B3-25F4-F750-0796-9AFC77758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16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CD28E5-162D-B45A-B016-3BE0DCCAE39D}"/>
              </a:ext>
            </a:extLst>
          </p:cNvPr>
          <p:cNvSpPr txBox="1"/>
          <p:nvPr/>
        </p:nvSpPr>
        <p:spPr>
          <a:xfrm>
            <a:off x="906430" y="1027339"/>
            <a:ext cx="3992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1A1818"/>
                </a:solidFill>
                <a:latin typeface="Russo One" panose="02000503050000020004" pitchFamily="2" charset="0"/>
              </a:rPr>
              <a:t>Project Bank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5B689E-4147-48B8-7D56-FF6324566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843" y="1565719"/>
            <a:ext cx="8750315" cy="4663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08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4FCC9-7F53-D7F4-2F30-BF3BAA44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DC7EB9-1B8C-6297-AC0A-75C5459269CB}"/>
              </a:ext>
            </a:extLst>
          </p:cNvPr>
          <p:cNvSpPr txBox="1"/>
          <p:nvPr/>
        </p:nvSpPr>
        <p:spPr>
          <a:xfrm>
            <a:off x="872315" y="287111"/>
            <a:ext cx="10447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REPORT ARCHITECTURE &amp; UI/UX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B02DA-9634-503B-8711-E7E0E4C8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17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669502-2AAB-45AB-78A1-1AFD04C454D8}"/>
              </a:ext>
            </a:extLst>
          </p:cNvPr>
          <p:cNvSpPr txBox="1"/>
          <p:nvPr/>
        </p:nvSpPr>
        <p:spPr>
          <a:xfrm>
            <a:off x="906430" y="1027339"/>
            <a:ext cx="39921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1A1818"/>
                </a:solidFill>
                <a:latin typeface="Russo One" panose="02000503050000020004" pitchFamily="2" charset="0"/>
              </a:rPr>
              <a:t>Bank - Wise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E7417F-0DDA-0878-3817-AE1EE39F1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653" y="1560473"/>
            <a:ext cx="8742694" cy="467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27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7B2E-3197-BB76-8EA4-4CCB369E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D031B05-E71B-9C71-6C95-471502C0C3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16ED8-338A-E0DB-252B-19B3A8ED1B3B}"/>
              </a:ext>
            </a:extLst>
          </p:cNvPr>
          <p:cNvSpPr txBox="1"/>
          <p:nvPr/>
        </p:nvSpPr>
        <p:spPr>
          <a:xfrm>
            <a:off x="1122589" y="0"/>
            <a:ext cx="9946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INSIGHTS &amp; RECOMMENDATIONS</a:t>
            </a:r>
          </a:p>
          <a:p>
            <a:pPr algn="ctr"/>
            <a:endParaRPr lang="en-US" sz="4000" b="1" u="sng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E2B2E2-04D5-FBBE-9F1F-BA63C76FC189}"/>
              </a:ext>
            </a:extLst>
          </p:cNvPr>
          <p:cNvSpPr txBox="1"/>
          <p:nvPr/>
        </p:nvSpPr>
        <p:spPr>
          <a:xfrm>
            <a:off x="452436" y="850651"/>
            <a:ext cx="112871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1. Strong Overall Collection Performance</a:t>
            </a:r>
            <a:endParaRPr lang="en-US" sz="16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Insight:</a:t>
            </a:r>
            <a:b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Across the 8 projects,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3,088 units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were sold with a total sold-unit value of approximately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18.64B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. The dashboard shows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13.88B in invoiced amounts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, of which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13.09B has been collected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. This gives an overall collection rate of approximately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94.3% by amount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, while the remaining outstanding balance is about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791.0M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Recommendation:</a:t>
            </a:r>
            <a:b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Management should maintain the current collection follow-up process while giving special attention to the remaining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791.0M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outstanding balance.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Business Value:</a:t>
            </a:r>
            <a:b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This gives management a clear view of the portfolio's overall collection position.</a:t>
            </a:r>
          </a:p>
          <a:p>
            <a:endParaRPr lang="en-US" sz="16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2. Outstanding Balance Is Concentrated in Three Projects</a:t>
            </a:r>
            <a:endParaRPr lang="en-US" sz="16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Insight:</a:t>
            </a:r>
            <a:b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The total outstanding balance is approximately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791.0M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. Three projects account for about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60.2%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of this amount:</a:t>
            </a:r>
          </a:p>
          <a:p>
            <a:pPr lvl="0"/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Skyline Katamya Compound: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EGP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198.0M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</a:t>
            </a:r>
          </a:p>
          <a:p>
            <a:pPr lvl="0"/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Degla Landmark: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EGP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155.2M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</a:t>
            </a:r>
          </a:p>
          <a:p>
            <a:pPr lvl="0"/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One Kattameya Compound: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EGP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122.8M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</a:t>
            </a:r>
          </a:p>
          <a:p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Together, these three projects represent approximately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476.0M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of the total outstanding balance.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Recommendation:</a:t>
            </a:r>
            <a:b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Management should give these projects closer collection monitoring and review their outstanding installments regularly.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Business Value:</a:t>
            </a:r>
            <a:b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Focusing on the projects with the largest outstanding balances can help management monitor the largest collection exposures.</a:t>
            </a:r>
          </a:p>
          <a:p>
            <a:endParaRPr lang="en-US" sz="16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BB5EE-6676-6EE8-9903-B10858DA7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938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412A5-7FC3-8779-04E5-A941B3C1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09A91A-5DF4-8FDD-808D-1DDF7D0615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6694AC-FC13-FC65-D804-F489E22D22C3}"/>
              </a:ext>
            </a:extLst>
          </p:cNvPr>
          <p:cNvSpPr txBox="1"/>
          <p:nvPr/>
        </p:nvSpPr>
        <p:spPr>
          <a:xfrm>
            <a:off x="1122589" y="0"/>
            <a:ext cx="9946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INSIGHTS &amp; RECOMMENDATIONS</a:t>
            </a:r>
          </a:p>
          <a:p>
            <a:pPr algn="ctr"/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636401-6769-CD0F-125F-AED1AF02A071}"/>
              </a:ext>
            </a:extLst>
          </p:cNvPr>
          <p:cNvSpPr txBox="1"/>
          <p:nvPr/>
        </p:nvSpPr>
        <p:spPr>
          <a:xfrm>
            <a:off x="452436" y="812899"/>
            <a:ext cx="1128712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3. Installment 7 Has the Largest Collection Gap</a:t>
            </a:r>
            <a:endParaRPr lang="en-US" sz="16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Insight:</a:t>
            </a:r>
            <a:b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Installment 7 shows a major collection gap. Out of approximately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158.7M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issued for this installment, only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3.35M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has been collected, leaving around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155.4M outstanding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.</a:t>
            </a:r>
          </a:p>
          <a:p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The collection rate for Installment 7 is only about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2.1%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, compared with much higher rates for the earlier installments.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Recommendation:</a:t>
            </a:r>
            <a:b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The collection team should closely monitor Installment 7 and follow up on unpaid amounts as they become due.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Business Value:</a:t>
            </a:r>
            <a:b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Installment 7 represents the largest installment-level outstanding exposure in the portfolio.</a:t>
            </a:r>
          </a:p>
          <a:p>
            <a:endParaRPr lang="en-US" sz="16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4. Installments 4 and 5 Also Need Collection Monitoring</a:t>
            </a:r>
            <a:endParaRPr lang="en-US" sz="16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Insight:</a:t>
            </a:r>
            <a:b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Collection performance decreases in the later installment stages. Installment 4 has a collection rate of about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92.0%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, while Installment 5 is about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92.5%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. Their outstanding balances are approximately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175.3M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and </a:t>
            </a: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110.9M</a:t>
            </a: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, respectively.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Recommendation:</a:t>
            </a:r>
            <a:b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Management should increase follow-up for later installments, especially Installments 4 and 5, before unpaid balances become larger.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Business Value:</a:t>
            </a:r>
            <a:b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sz="16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The analysis shows that collection attention should not focus only on the first installments.</a:t>
            </a:r>
          </a:p>
          <a:p>
            <a:endParaRPr lang="en-US" sz="16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endParaRPr lang="en-US" sz="14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724B86-8C51-A6BE-5755-D68B217BF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15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36875-B782-5EBB-7518-EE016A1F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9C8240-8264-578E-8716-75AFDE6ACF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C33895-1D16-3175-9147-D40BFD0084FE}"/>
              </a:ext>
            </a:extLst>
          </p:cNvPr>
          <p:cNvSpPr txBox="1"/>
          <p:nvPr/>
        </p:nvSpPr>
        <p:spPr>
          <a:xfrm>
            <a:off x="1122589" y="0"/>
            <a:ext cx="9946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usso One" panose="02000503050000020004" pitchFamily="2" charset="0"/>
              </a:rPr>
              <a:t>INSIGHTS &amp; RECOMMENDATIONS</a:t>
            </a:r>
          </a:p>
          <a:p>
            <a:pPr algn="ctr"/>
            <a:endParaRPr lang="en-US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C0654-7DD9-70A6-04B3-99CB44A5D113}"/>
              </a:ext>
            </a:extLst>
          </p:cNvPr>
          <p:cNvSpPr txBox="1"/>
          <p:nvPr/>
        </p:nvSpPr>
        <p:spPr>
          <a:xfrm>
            <a:off x="452438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6. Outstanding Bank Exposure Is Concentrated in Two Banks</a:t>
            </a:r>
            <a:endParaRPr lang="en-US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Insight:</a:t>
            </a:r>
            <a:br>
              <a:rPr lang="en-US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Within the bank-financed portfolio, </a:t>
            </a:r>
            <a:r>
              <a:rPr lang="en-US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Banque Misr</a:t>
            </a:r>
            <a:r>
              <a:rPr lang="en-US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has approximately </a:t>
            </a:r>
            <a:r>
              <a:rPr lang="en-US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152.2M</a:t>
            </a:r>
            <a:r>
              <a:rPr lang="en-US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outstanding, while </a:t>
            </a:r>
            <a:r>
              <a:rPr lang="en-US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National Bank of Egypt</a:t>
            </a:r>
            <a:r>
              <a:rPr lang="en-US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has approximately </a:t>
            </a:r>
            <a:r>
              <a:rPr lang="en-US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EGP 150.7M</a:t>
            </a:r>
            <a:r>
              <a:rPr lang="en-US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 outstanding.</a:t>
            </a:r>
          </a:p>
          <a:p>
            <a:r>
              <a:rPr lang="en-US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Together, these two banks represent around </a:t>
            </a:r>
            <a:r>
              <a:rPr lang="en-US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58.0% of the total bank outstanding balance of EGP 521.9M</a:t>
            </a:r>
            <a:r>
              <a:rPr lang="en-US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Recommendation:</a:t>
            </a:r>
            <a:br>
              <a:rPr lang="en-US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Management should regularly monitor outstanding balances by bank and strengthen follow-up for the banks with larger outstanding exposure.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Business Value:</a:t>
            </a:r>
            <a:br>
              <a:rPr lang="en-US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</a:br>
            <a:r>
              <a:rPr lang="en-US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Bank-wise analysis helps identify where a large part of the financed outstanding balance is concentrated.</a:t>
            </a:r>
            <a:endParaRPr lang="en-US" sz="1400" dirty="0">
              <a:solidFill>
                <a:srgbClr val="1A18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57E32-2E64-1105-1002-FA63EB424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3670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30000">
        <p159:morph option="byObject"/>
      </p:transition>
    </mc:Choice>
    <mc:Fallback>
      <p:transition spd="slow" advClick="0" advTm="3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71B38-2AAB-AEF4-DA50-F562312E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336D97-5BAB-8A97-BA5C-3B29507C1495}"/>
              </a:ext>
            </a:extLst>
          </p:cNvPr>
          <p:cNvSpPr txBox="1"/>
          <p:nvPr/>
        </p:nvSpPr>
        <p:spPr>
          <a:xfrm>
            <a:off x="980394" y="1441336"/>
            <a:ext cx="10231211" cy="1862048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1500" b="1" spc="2000" dirty="0">
                <a:solidFill>
                  <a:srgbClr val="1A18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8F105-D6BF-BAC4-7D58-52086FAF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7ECAB-B323-4EAB-B6CC-8D02F1B2B96C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70BC7-031A-65B8-9412-5A95F002A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505" y="3807086"/>
            <a:ext cx="4397375" cy="1357106"/>
          </a:xfrm>
          <a:prstGeom prst="rect">
            <a:avLst/>
          </a:prstGeom>
          <a:ln>
            <a:solidFill>
              <a:srgbClr val="1A1818"/>
            </a:solidFill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C019D54-E94B-56A4-73DA-6F25DD87E465}"/>
              </a:ext>
            </a:extLst>
          </p:cNvPr>
          <p:cNvGrpSpPr/>
          <p:nvPr/>
        </p:nvGrpSpPr>
        <p:grpSpPr>
          <a:xfrm>
            <a:off x="7625080" y="3554616"/>
            <a:ext cx="2275840" cy="1862048"/>
            <a:chOff x="8280400" y="3303384"/>
            <a:chExt cx="2174240" cy="233541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0042365-F7C4-B314-C3AF-50CC6859CDCB}"/>
                </a:ext>
              </a:extLst>
            </p:cNvPr>
            <p:cNvSpPr/>
            <p:nvPr/>
          </p:nvSpPr>
          <p:spPr>
            <a:xfrm>
              <a:off x="8280400" y="3303384"/>
              <a:ext cx="2174240" cy="2335416"/>
            </a:xfrm>
            <a:prstGeom prst="round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A207BFA-1E95-0AE4-6422-EB5321277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99780" y="3503352"/>
              <a:ext cx="1935480" cy="19354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57474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Click="0" advTm="30000">
        <p15:prstTrans prst="fracture"/>
      </p:transition>
    </mc:Choice>
    <mc:Fallback>
      <p:transition spd="slow" advClick="0" advTm="30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1266</Words>
  <Application>Microsoft Office PowerPoint</Application>
  <PresentationFormat>Widescreen</PresentationFormat>
  <Paragraphs>197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Baskerville Old Face</vt:lpstr>
      <vt:lpstr>Calibri</vt:lpstr>
      <vt:lpstr>Franklin Gothic Heavy</vt:lpstr>
      <vt:lpstr>Russo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Magdy Mahmoud</dc:creator>
  <cp:lastModifiedBy>ji 32387</cp:lastModifiedBy>
  <cp:revision>16</cp:revision>
  <dcterms:created xsi:type="dcterms:W3CDTF">2026-09-18T15:39:40Z</dcterms:created>
  <dcterms:modified xsi:type="dcterms:W3CDTF">2026-09-30T03:16:30Z</dcterms:modified>
</cp:coreProperties>
</file>